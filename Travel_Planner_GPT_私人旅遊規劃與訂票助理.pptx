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C2A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wide_high_quality_photo_3d_render_style_travel_batch_1.png">    </p:cNvPr>
          <p:cNvPicPr>
            <a:picLocks noChangeAspect="1"/>
          </p:cNvPicPr>
          <p:nvPr/>
        </p:nvPicPr>
        <p:blipFill>
          <a:blip r:embed="rId1"/>
          <a:srcRect l="23061" r="23061" t="0" b="0"/>
          <a:stretch/>
        </p:blipFill>
        <p:spPr>
          <a:xfrm>
            <a:off x="5623560" y="0"/>
            <a:ext cx="656539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143000"/>
            <a:ext cx="4754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私人旅遊規劃與訂票助理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7512" y="2395728"/>
            <a:ext cx="123444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2688336"/>
            <a:ext cx="4526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4EE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把「想去哪裡」變成「可執行的完整旅遊計畫」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67512" y="3886200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D99A29"/>
          </a:solidFill>
          <a:ln w="12700">
            <a:solidFill>
              <a:srgbClr val="D99A2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959352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需求分析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65960" y="3886200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D99A29"/>
          </a:solidFill>
          <a:ln w="12700">
            <a:solidFill>
              <a:srgbClr val="D99A2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75688" y="39593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行程表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27248" y="3886200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D99A29"/>
          </a:solidFill>
          <a:ln w="12700">
            <a:solidFill>
              <a:srgbClr val="D99A2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36976" y="395935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預算分配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" y="4352544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42569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訂票清單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57400" y="4352544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67128" y="442569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多輪修改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47288" y="4352544"/>
            <a:ext cx="14813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57016" y="4425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可執行計畫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7512" y="6163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課程簡報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定位：從景點推薦到旅遊決策顧問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核心不是列景點，而是整合條件、產出可執行計畫</a:t>
            </a:r>
            <a:endParaRPr lang="en-US" sz="1100" dirty="0"/>
          </a:p>
        </p:txBody>
      </p:sp>
      <p:pic>
        <p:nvPicPr>
          <p:cNvPr id="5" name="Image 0" descr="/mnt/data/a_top_down_angled_flatlay_scene_on_a_light_beige_c_batch_4.png">    </p:cNvPr>
          <p:cNvPicPr>
            <a:picLocks noChangeAspect="1"/>
          </p:cNvPicPr>
          <p:nvPr/>
        </p:nvPicPr>
        <p:blipFill>
          <a:blip r:embed="rId1"/>
          <a:srcRect l="11786" r="11786" t="0" b="0"/>
          <a:stretch/>
        </p:blipFill>
        <p:spPr>
          <a:xfrm>
            <a:off x="6812280" y="1152144"/>
            <a:ext cx="489204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1261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 GPT Agent 的目標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4944" y="1783080"/>
            <a:ext cx="544068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幫使用者從零規劃一趟完整旅遊，並把「想法」轉成「時間表、預算表、交通住宿建議與訂票前檢查」。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13232" y="3090672"/>
            <a:ext cx="5413248" cy="0"/>
          </a:xfrm>
          <a:prstGeom prst="line">
            <a:avLst/>
          </a:prstGeom>
          <a:noFill/>
          <a:ln w="12700">
            <a:solidFill>
              <a:srgbClr val="D3C4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4015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56232" y="3383280"/>
            <a:ext cx="4462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目的地、天數、預算、旅伴、交通偏好與旅遊風格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13232" y="40233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56232" y="4005072"/>
            <a:ext cx="4462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分析限制、安排行程密度、避免交通與體力不合理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13232" y="46451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56232" y="4626864"/>
            <a:ext cx="44622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可直接照著走的每日行程與訂票準備清單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核心任務：完成一趟旅行所需的 7 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讓學生理解：AI Agent 要處理的是一個完整流程，而不是單一問答</a:t>
            </a:r>
            <a:endParaRPr lang="en-US" sz="1100" dirty="0"/>
          </a:p>
        </p:txBody>
      </p:sp>
      <p:pic>
        <p:nvPicPr>
          <p:cNvPr id="5" name="Image 0" descr="/mnt/data/a_bright_clean_flat_lay_travel_planning_scene_on_batch_2.png">    </p:cNvPr>
          <p:cNvPicPr>
            <a:picLocks noChangeAspect="1"/>
          </p:cNvPicPr>
          <p:nvPr/>
        </p:nvPicPr>
        <p:blipFill>
          <a:blip r:embed="rId1"/>
          <a:srcRect l="16297" r="16297" t="0" b="0"/>
          <a:stretch/>
        </p:blipFill>
        <p:spPr>
          <a:xfrm>
            <a:off x="502920" y="1207008"/>
            <a:ext cx="324612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047488"/>
            <a:ext cx="2926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核心任務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544068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從需求到出發前檢查，形成可教、可測、可升級的 Agent。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527048"/>
            <a:ext cx="0" cy="4251960"/>
          </a:xfrm>
          <a:prstGeom prst="line">
            <a:avLst/>
          </a:prstGeom>
          <a:noFill/>
          <a:ln w="30480">
            <a:solidFill>
              <a:srgbClr val="D99A29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24528" y="1289304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24528" y="13990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92040" y="123444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旅遊需求分析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7543800" y="1234440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收集目的地、天數、預算、旅伴與偏好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4224528" y="1956816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24528" y="20665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9204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行程表安排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7543800" y="1901952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按時間、地點與交通距離安排每日行程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4224528" y="2624328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24528" y="27340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92040" y="2569464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預算分配</a:t>
            </a:r>
            <a:endParaRPr lang="en-US" sz="1520" dirty="0"/>
          </a:p>
        </p:txBody>
      </p:sp>
      <p:sp>
        <p:nvSpPr>
          <p:cNvPr id="20" name="Text 17"/>
          <p:cNvSpPr/>
          <p:nvPr/>
        </p:nvSpPr>
        <p:spPr>
          <a:xfrm>
            <a:off x="7543800" y="2569464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拆分機票、住宿、餐飲、交通與活動費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4224528" y="3291840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24528" y="340156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92040" y="3236976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交通與住宿建議</a:t>
            </a:r>
            <a:endParaRPr lang="en-US" sz="1520" dirty="0"/>
          </a:p>
        </p:txBody>
      </p:sp>
      <p:sp>
        <p:nvSpPr>
          <p:cNvPr id="24" name="Text 21"/>
          <p:cNvSpPr/>
          <p:nvPr/>
        </p:nvSpPr>
        <p:spPr>
          <a:xfrm>
            <a:off x="7543800" y="3236976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建議移動方式與住宿區域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4224528" y="3959352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24528" y="40690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92040" y="3904488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訂票前檢查清單</a:t>
            </a:r>
            <a:endParaRPr lang="en-US" sz="1520" dirty="0"/>
          </a:p>
        </p:txBody>
      </p:sp>
      <p:sp>
        <p:nvSpPr>
          <p:cNvPr id="28" name="Text 25"/>
          <p:cNvSpPr/>
          <p:nvPr/>
        </p:nvSpPr>
        <p:spPr>
          <a:xfrm>
            <a:off x="7543800" y="3904488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整理機票、住宿、門票、eSIM、保險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4224528" y="4626864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24528" y="4736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92040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多輪對話修改行程</a:t>
            </a:r>
            <a:endParaRPr lang="en-US" sz="1520" dirty="0"/>
          </a:p>
        </p:txBody>
      </p:sp>
      <p:sp>
        <p:nvSpPr>
          <p:cNvPr id="32" name="Text 29"/>
          <p:cNvSpPr/>
          <p:nvPr/>
        </p:nvSpPr>
        <p:spPr>
          <a:xfrm>
            <a:off x="7543800" y="4572000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依「減少購物、增加美食」等條件微調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4224528" y="5294376"/>
            <a:ext cx="420624" cy="420624"/>
          </a:xfrm>
          <a:prstGeom prst="ellipse">
            <a:avLst/>
          </a:prstGeom>
          <a:solidFill>
            <a:srgbClr val="D99A29"/>
          </a:solidFill>
          <a:ln w="12700">
            <a:solidFill>
              <a:srgbClr val="D99A2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24528" y="54041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892040" y="5239512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產出可執行計畫</a:t>
            </a:r>
            <a:endParaRPr lang="en-US" sz="1520" dirty="0"/>
          </a:p>
        </p:txBody>
      </p:sp>
      <p:sp>
        <p:nvSpPr>
          <p:cNvPr id="36" name="Text 33"/>
          <p:cNvSpPr/>
          <p:nvPr/>
        </p:nvSpPr>
        <p:spPr>
          <a:xfrm>
            <a:off x="7543800" y="5239512"/>
            <a:ext cx="3703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讓使用者知道何時、去哪、怎麼去、花多少</a:t>
            </a:r>
            <a:endParaRPr lang="en-US" sz="118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工作流程：把口語旅遊需求變成完整輸出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的核心設計：先問清楚，再產生結構化結果，再用多輪對話優化</a:t>
            </a:r>
            <a:endParaRPr lang="en-US" sz="1100" dirty="0"/>
          </a:p>
        </p:txBody>
      </p:sp>
      <p:pic>
        <p:nvPicPr>
          <p:cNvPr id="5" name="Image 0" descr="/mnt/data/a_clean_vector_illustration_style_infographic_scen_batch_3.png">    </p:cNvPr>
          <p:cNvPicPr>
            <a:picLocks noChangeAspect="1"/>
          </p:cNvPicPr>
          <p:nvPr/>
        </p:nvPicPr>
        <p:blipFill>
          <a:blip r:embed="rId1"/>
          <a:srcRect l="13743" r="13743" t="0" b="0"/>
          <a:stretch/>
        </p:blipFill>
        <p:spPr>
          <a:xfrm>
            <a:off x="274320" y="1170432"/>
            <a:ext cx="4800600" cy="4965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737360"/>
            <a:ext cx="502920" cy="0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8641080" y="1737360"/>
            <a:ext cx="502920" cy="0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9802368" y="2606040"/>
            <a:ext cx="-585216" cy="393192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909560" y="2999232"/>
            <a:ext cx="-301752" cy="-256032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863840" y="4507992"/>
            <a:ext cx="256032" cy="210312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217152" y="4507992"/>
            <a:ext cx="-713232" cy="210312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86400" y="1280160"/>
            <a:ext cx="1325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4447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使用者輸入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旅遊條件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7315200" y="1280160"/>
            <a:ext cx="1325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14447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需求摘要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與缺口提問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9144000" y="1280160"/>
            <a:ext cx="13258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14447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每日行程表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6400800" y="2999232"/>
            <a:ext cx="15087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16382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預算／交通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住宿建議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8458200" y="2999232"/>
            <a:ext cx="15087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316382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訂票提醒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檢查清單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7360920" y="4718304"/>
            <a:ext cx="16916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488289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多輪修改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最終計畫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5532120" y="5897880"/>
            <a:ext cx="5440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4E4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關鍵規則：資訊不足時，先問最多 5 個問題，不要直接亂排。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完整旅遊指令必備 6 要素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學生只要掌握這 6 類資訊，就能大幅提升 AI 行程品質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24358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444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目的地 + 天數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1773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決定行程密度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24358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1E8D8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1384" y="1444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出發地 + 交通偏好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1384" y="1773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決定交通方式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66090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同行人數與特性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" y="3191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決定景點與餐廳類型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266090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1E8D8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總預算範圍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01384" y="3191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決定住宿等級與活動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07822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旅遊風格偏好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9264" y="4608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決定景點選擇邏輯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078224"/>
            <a:ext cx="4892040" cy="941832"/>
          </a:xfrm>
          <a:prstGeom prst="roundRect">
            <a:avLst>
              <a:gd name="adj" fmla="val 11650"/>
            </a:avLst>
          </a:prstGeom>
          <a:solidFill>
            <a:srgbClr val="F1E8D8"/>
          </a:solidFill>
          <a:ln w="12700">
            <a:solidFill>
              <a:srgbClr val="E3D6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特殊需求或排除項目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1384" y="4608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避免不適合的安排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" y="5669280"/>
            <a:ext cx="10808208" cy="530352"/>
          </a:xfrm>
          <a:prstGeom prst="rect">
            <a:avLst/>
          </a:prstGeom>
          <a:solidFill>
            <a:srgbClr val="0C2A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338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教學提醒：同行人特性最容易被忘記，但最能決定行程是否真正可用。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標準輸出：行程表、預算表、訂票清單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Agent 的回答固定格式化，學生才容易測試與改良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每日詳細行程表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664208"/>
            <a:ext cx="4800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時間｜地點/活動｜內容｜交通｜花費｜備註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13232" y="2057400"/>
            <a:ext cx="4800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1305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09:00 高鐵出發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441448"/>
            <a:ext cx="4800600" cy="310896"/>
          </a:xfrm>
          <a:prstGeom prst="rect">
            <a:avLst/>
          </a:prstGeom>
          <a:solidFill>
            <a:srgbClr val="F7EFE2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51460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11:00 老街散策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4800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89864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12:30 在地午餐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209544"/>
            <a:ext cx="4800600" cy="310896"/>
          </a:xfrm>
          <a:prstGeom prst="rect">
            <a:avLst/>
          </a:prstGeom>
          <a:solidFill>
            <a:srgbClr val="F7EFE2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282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15:00 歷史建築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3593592"/>
            <a:ext cx="4800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66674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17:00 回程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預算分配表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700784"/>
            <a:ext cx="4462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8013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機票/高鐵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12680" y="18013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2139696"/>
            <a:ext cx="4462272" cy="347472"/>
          </a:xfrm>
          <a:prstGeom prst="rect">
            <a:avLst/>
          </a:prstGeom>
          <a:solidFill>
            <a:srgbClr val="F7EFE2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住宿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12680" y="22402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578608"/>
            <a:ext cx="4462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6791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餐飲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12680" y="26791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3017520"/>
            <a:ext cx="4462272" cy="347472"/>
          </a:xfrm>
          <a:prstGeom prst="rect">
            <a:avLst/>
          </a:prstGeom>
          <a:solidFill>
            <a:srgbClr val="F7EFE2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118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12680" y="311810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456432"/>
            <a:ext cx="4462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D9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活動/門票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12680" y="3557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4343400"/>
            <a:ext cx="4462272" cy="1417320"/>
          </a:xfrm>
          <a:prstGeom prst="roundRect">
            <a:avLst>
              <a:gd name="adj" fmla="val 7742"/>
            </a:avLst>
          </a:prstGeom>
          <a:solidFill>
            <a:srgbClr val="0C2A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4599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訂票與預約提醒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56832" y="4965192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機票／住宿／交通票券／景點門票／餐廳訂位／eSIM／旅遊保險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" y="5870448"/>
            <a:ext cx="5394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4E4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即時價格、空房、開放時間需以官方網站或正式平台為準。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多輪對話：旅遊規劃 Agent 的核心技巧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第一輪產出初版；第二輪開始依偏好、預算、體力與風格微調</a:t>
            </a:r>
            <a:endParaRPr lang="en-US" sz="1100" dirty="0"/>
          </a:p>
        </p:txBody>
      </p:sp>
      <p:pic>
        <p:nvPicPr>
          <p:cNvPr id="5" name="Image 0" descr="/mnt/data/a_top_down_angled_flatlay_scene_on_a_light_beige_c_batch_4.png">    </p:cNvPr>
          <p:cNvPicPr>
            <a:picLocks noChangeAspect="1"/>
          </p:cNvPicPr>
          <p:nvPr/>
        </p:nvPicPr>
        <p:blipFill>
          <a:blip r:embed="rId1"/>
          <a:srcRect l="18344" r="18344" t="0" b="0"/>
          <a:stretch/>
        </p:blipFill>
        <p:spPr>
          <a:xfrm>
            <a:off x="685800" y="1207008"/>
            <a:ext cx="297180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5084064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從「一次回答」升級成「來回調整」</a:t>
            </a:r>
            <a:endParaRPr lang="en-US" sz="1480" dirty="0"/>
          </a:p>
        </p:txBody>
      </p:sp>
      <p:sp>
        <p:nvSpPr>
          <p:cNvPr id="7" name="Text 4"/>
          <p:cNvSpPr/>
          <p:nvPr/>
        </p:nvSpPr>
        <p:spPr>
          <a:xfrm>
            <a:off x="749808" y="54681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Iterative Refinement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06240" y="1325880"/>
            <a:ext cx="66294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2272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第一輪指令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62272" y="1901952"/>
            <a:ext cx="5998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規劃大阪 4 天 3 夜：台灣出發、情侶、每人 25,000 元、偏好街頭美食、動漫文化、夜生活與拍照景點。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2944368"/>
            <a:ext cx="0" cy="548640"/>
          </a:xfrm>
          <a:prstGeom prst="line">
            <a:avLst/>
          </a:prstGeom>
          <a:noFill/>
          <a:ln w="25400">
            <a:solidFill>
              <a:srgbClr val="D99A2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206240" y="3611880"/>
            <a:ext cx="6629400" cy="1389888"/>
          </a:xfrm>
          <a:prstGeom prst="roundRect">
            <a:avLst>
              <a:gd name="adj" fmla="val 7895"/>
            </a:avLst>
          </a:prstGeom>
          <a:solidFill>
            <a:srgbClr val="F1E8D8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2272" y="3840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第二輪微調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62272" y="4187952"/>
            <a:ext cx="5998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請把第二天改成以「道頓堀美食探索」為主軸，減少一個購物景點，新增在地隱藏餐廳。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43400" y="5650992"/>
            <a:ext cx="6263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回覆時要列出：修改前、修改後、修改原因、預算是否變動。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課程銜接：從文字型 GPT 升級到真正系統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914400" cy="0"/>
          </a:xfrm>
          <a:prstGeom prst="line">
            <a:avLst/>
          </a:prstGeom>
          <a:noFill/>
          <a:ln w="38100">
            <a:solidFill>
              <a:srgbClr val="D99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786384"/>
            <a:ext cx="7635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這個主題很適合引導學生報名 Java + AI Agent / API / n8n 進階課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" y="1883664"/>
            <a:ext cx="2212848" cy="3566160"/>
          </a:xfrm>
          <a:prstGeom prst="roundRect">
            <a:avLst>
              <a:gd name="adj" fmla="val 4959"/>
            </a:avLst>
          </a:prstGeom>
          <a:solidFill>
            <a:srgbClr val="0C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688336"/>
            <a:ext cx="1783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純文字規劃 GPT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06424" y="3392424"/>
            <a:ext cx="1572768" cy="0"/>
          </a:xfrm>
          <a:prstGeom prst="line">
            <a:avLst/>
          </a:prstGeom>
          <a:noFill/>
          <a:ln w="16510">
            <a:solidFill>
              <a:srgbClr val="D99A29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3621024"/>
            <a:ext cx="17556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8F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行程、預算、訂票清單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602736" y="1645920"/>
            <a:ext cx="2212848" cy="3803904"/>
          </a:xfrm>
          <a:prstGeom prst="roundRect">
            <a:avLst>
              <a:gd name="adj" fmla="val 4959"/>
            </a:avLst>
          </a:prstGeom>
          <a:solidFill>
            <a:srgbClr val="123A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1975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03904" y="2450592"/>
            <a:ext cx="1783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查詢資訊 Agent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22776" y="3154680"/>
            <a:ext cx="1572768" cy="0"/>
          </a:xfrm>
          <a:prstGeom prst="line">
            <a:avLst/>
          </a:prstGeom>
          <a:noFill/>
          <a:ln w="16510">
            <a:solidFill>
              <a:srgbClr val="D99A29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383280"/>
            <a:ext cx="17556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8F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景點時間、票價、交通資訊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19088" y="1408176"/>
            <a:ext cx="2212848" cy="4041648"/>
          </a:xfrm>
          <a:prstGeom prst="roundRect">
            <a:avLst>
              <a:gd name="adj" fmla="val 4959"/>
            </a:avLst>
          </a:prstGeom>
          <a:solidFill>
            <a:srgbClr val="0C2A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0256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串接 Agent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9128" y="2916936"/>
            <a:ext cx="1572768" cy="0"/>
          </a:xfrm>
          <a:prstGeom prst="line">
            <a:avLst/>
          </a:prstGeom>
          <a:noFill/>
          <a:ln w="16510">
            <a:solidFill>
              <a:srgbClr val="D99A29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145536"/>
            <a:ext cx="17556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8F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航班、飯店、地圖、匯率、天氣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235440" y="1170432"/>
            <a:ext cx="2212848" cy="4279392"/>
          </a:xfrm>
          <a:prstGeom prst="roundRect">
            <a:avLst>
              <a:gd name="adj" fmla="val 4959"/>
            </a:avLst>
          </a:prstGeom>
          <a:solidFill>
            <a:srgbClr val="123A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14996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A2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36608" y="1975104"/>
            <a:ext cx="1783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完整旅遊助理系統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55480" y="2679192"/>
            <a:ext cx="1572768" cy="0"/>
          </a:xfrm>
          <a:prstGeom prst="line">
            <a:avLst/>
          </a:prstGeom>
          <a:noFill/>
          <a:ln w="16510">
            <a:solidFill>
              <a:srgbClr val="D99A29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907792"/>
            <a:ext cx="17556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8F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行事曆、PDF、LINE/Email 提醒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32688" y="5897880"/>
            <a:ext cx="10241280" cy="438912"/>
          </a:xfrm>
          <a:prstGeom prst="roundRect">
            <a:avLst>
              <a:gd name="adj" fmla="val 25000"/>
            </a:avLst>
          </a:prstGeom>
          <a:solidFill>
            <a:srgbClr val="D99A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6016752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銜接產品：Spring Boot + OpenAI API + Google Maps API + n8n 自動提醒流程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Travel Planner GPT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37392" y="64373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835640" y="6574536"/>
            <a:ext cx="246888" cy="0"/>
          </a:xfrm>
          <a:prstGeom prst="line">
            <a:avLst/>
          </a:prstGeom>
          <a:noFill/>
          <a:ln w="19050">
            <a:solidFill>
              <a:srgbClr val="D99A2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Planner GPT｜私人旅遊規劃與訂票助理</dc:title>
  <dc:subject>Travel Planner GPT deck</dc:subject>
  <dc:creator>OpenAI</dc:creator>
  <cp:lastModifiedBy>OpenAI</cp:lastModifiedBy>
  <cp:revision>1</cp:revision>
  <dcterms:created xsi:type="dcterms:W3CDTF">2026-06-13T15:24:17Z</dcterms:created>
  <dcterms:modified xsi:type="dcterms:W3CDTF">2026-06-13T15:24:17Z</dcterms:modified>
</cp:coreProperties>
</file>