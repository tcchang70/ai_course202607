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家庭財務管理 GPT AI Agent 課綱簡報。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bright_clean_indoor_workspace_desk_scene_in_a_m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453087"/>
            <a:ext cx="5413248" cy="30465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115568"/>
            <a:ext cx="5486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家庭財務管理助理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76656" y="184708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7E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課綱簡報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94944" y="2761488"/>
            <a:ext cx="4846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4F1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把消費記錄轉化成可分析數據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4F1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成為日常預算與儲蓄規劃教練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94944" y="4151376"/>
            <a:ext cx="1298448" cy="310896"/>
          </a:xfrm>
          <a:prstGeom prst="roundRect">
            <a:avLst>
              <a:gd name="adj" fmla="val 20588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4210812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Cash Flow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39696" y="4151376"/>
            <a:ext cx="1536192" cy="310896"/>
          </a:xfrm>
          <a:prstGeom prst="roundRect">
            <a:avLst>
              <a:gd name="adj" fmla="val 20588"/>
            </a:avLst>
          </a:prstGeom>
          <a:solidFill>
            <a:srgbClr val="2F7D78"/>
          </a:solidFill>
          <a:ln w="12700">
            <a:solidFill>
              <a:srgbClr val="2F7D7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31136" y="421081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Savings Rate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822192" y="4151376"/>
            <a:ext cx="1389888" cy="310896"/>
          </a:xfrm>
          <a:prstGeom prst="roundRect">
            <a:avLst>
              <a:gd name="adj" fmla="val 20588"/>
            </a:avLst>
          </a:prstGeom>
          <a:solidFill>
            <a:srgbClr val="6FAFA4"/>
          </a:solidFill>
          <a:ln w="12700">
            <a:solidFill>
              <a:srgbClr val="6FAFA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13632" y="4210812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/ 30 / 20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944" y="4956048"/>
            <a:ext cx="4023360" cy="0"/>
          </a:xfrm>
          <a:prstGeom prst="line">
            <a:avLst/>
          </a:prstGeom>
          <a:noFill/>
          <a:ln w="16510">
            <a:solidFill>
              <a:srgbClr val="F7E7C2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5961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B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Course Outline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課程定位與學習成果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讓學生用 ChatGPT 做出可用的家庭財務分析 Agent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pic>
        <p:nvPicPr>
          <p:cNvPr id="7" name="Image 0" descr="/mnt/data/a_clean_warm_toned_3d_illustrated_infographic_sty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9749"/>
            <a:ext cx="4937760" cy="27789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700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本堂課完成後，學生能做到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544068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建立「家庭財務管理助理」自訂 GPT
</a:t>
            </a:r>
            <a:pPr indent="0" marL="0">
              <a:buNone/>
            </a:pPr>
            <a:r>
              <a:rPr lang="en-US" sz="180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輸入收入與消費紀錄，讓 AI 自動分類
</a:t>
            </a:r>
            <a:pPr indent="0" marL="0">
              <a:buNone/>
            </a:pPr>
            <a:r>
              <a:rPr lang="en-US" sz="180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計算現金流、月總支出與儲蓄率
</a:t>
            </a:r>
            <a:pPr indent="0" marL="0">
              <a:buNone/>
            </a:pPr>
            <a:r>
              <a:rPr lang="en-US" sz="180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對照 50/30/20 法則找出超支問題
</a:t>
            </a:r>
            <a:pPr indent="0" marL="0">
              <a:buNone/>
            </a:pPr>
            <a:r>
              <a:rPr lang="en-US" sz="180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產出下個月預算與短中期儲蓄計畫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4864608"/>
            <a:ext cx="5577840" cy="658368"/>
          </a:xfrm>
          <a:prstGeom prst="roundRect">
            <a:avLst>
              <a:gd name="adj" fmla="val 19444"/>
            </a:avLst>
          </a:prstGeom>
          <a:solidFill>
            <a:srgbClr val="EAF3F1"/>
          </a:solidFill>
          <a:ln w="12700">
            <a:solidFill>
              <a:srgbClr val="D9E8E5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504748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教學重點：不是教投資喊單，而是教「資料整理 → 預算分析 → 行動改善」。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名稱與角色定位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先定義名稱，再定義它能解決什麼問題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074920" cy="4160520"/>
          </a:xfrm>
          <a:prstGeom prst="roundRect">
            <a:avLst>
              <a:gd name="adj" fmla="val 3077"/>
            </a:avLst>
          </a:prstGeom>
          <a:solidFill>
            <a:srgbClr val="FEFBF4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名稱建議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家庭財務管理助理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家庭現金流與儲蓄規劃顧問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前者適合初學者，後者適合做成較專業的顧問型 Agent。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0760" y="2788920"/>
            <a:ext cx="640080" cy="502920"/>
          </a:xfrm>
          <a:prstGeom prst="chevron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417320"/>
            <a:ext cx="4389120" cy="4160520"/>
          </a:xfrm>
          <a:prstGeom prst="roundRect">
            <a:avLst>
              <a:gd name="adj" fmla="val 3077"/>
            </a:avLst>
          </a:prstGeom>
          <a:solidFill>
            <a:srgbClr val="EAF3F1"/>
          </a:solidFill>
          <a:ln w="12700">
            <a:solidFill>
              <a:srgbClr val="D9E8E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8352" y="175564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角色定位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88352" y="2359152"/>
            <a:ext cx="35204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記帳教練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家庭預算分析師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儲蓄目標規劃顧問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88352" y="4160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它的任務是讓使用者看懂自己的錢流向，而不是直接替使用者做高風險投資決策。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核心任務地圖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從收支資料到每週／每月家庭財務報告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10012680" cy="2926080"/>
          </a:xfrm>
          <a:prstGeom prst="arc">
            <a:avLst/>
          </a:prstGeom>
          <a:solidFill>
            <a:srgbClr val="F8F2E9">
              <a:alpha val="0"/>
            </a:srgbClr>
          </a:solidFill>
          <a:ln w="50800">
            <a:solidFill>
              <a:srgbClr val="C7D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22576"/>
            <a:ext cx="1024128" cy="1024128"/>
          </a:xfrm>
          <a:prstGeom prst="ellipse">
            <a:avLst/>
          </a:prstGeom>
          <a:solidFill>
            <a:srgbClr val="2F7D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6424" y="25786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" y="34655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整理收入與支出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1591056"/>
            <a:ext cx="1024128" cy="1024128"/>
          </a:xfrm>
          <a:prstGeom prst="ellipse">
            <a:avLst/>
          </a:prstGeom>
          <a:solidFill>
            <a:srgbClr val="D69E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1847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30552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消費分類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2322576"/>
            <a:ext cx="1024128" cy="1024128"/>
          </a:xfrm>
          <a:prstGeom prst="ellipse">
            <a:avLst/>
          </a:prstGeom>
          <a:solidFill>
            <a:srgbClr val="2F7D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9664" y="25786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34655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計算現金流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40680" y="1591056"/>
            <a:ext cx="1024128" cy="1024128"/>
          </a:xfrm>
          <a:prstGeom prst="ellipse">
            <a:avLst/>
          </a:prstGeom>
          <a:solidFill>
            <a:srgbClr val="D69E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9864" y="1847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39512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計算儲蓄率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2322576"/>
            <a:ext cx="1024128" cy="1024128"/>
          </a:xfrm>
          <a:prstGeom prst="ellipse">
            <a:avLst/>
          </a:prstGeom>
          <a:solidFill>
            <a:srgbClr val="2F7D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7184" y="25786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56832" y="34655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50/30/20 檢查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85632" y="1591056"/>
            <a:ext cx="1024128" cy="1024128"/>
          </a:xfrm>
          <a:prstGeom prst="ellipse">
            <a:avLst/>
          </a:prstGeom>
          <a:solidFill>
            <a:srgbClr val="D69E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14816" y="184708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84464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找出超支項目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784080" y="2322576"/>
            <a:ext cx="1024128" cy="1024128"/>
          </a:xfrm>
          <a:prstGeom prst="ellipse">
            <a:avLst/>
          </a:prstGeom>
          <a:solidFill>
            <a:srgbClr val="2F7D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13264" y="25786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82912" y="34655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設計下月預算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0" y="5532120"/>
            <a:ext cx="8458200" cy="502920"/>
          </a:xfrm>
          <a:prstGeom prst="roundRect">
            <a:avLst>
              <a:gd name="adj" fmla="val 25455"/>
            </a:avLst>
          </a:prstGeom>
          <a:solidFill>
            <a:srgbClr val="FEFBF4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56692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最終輸出：短中期儲蓄目標規劃 + 每週／每月家庭財務報告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財務核心觀念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讓學生先理解名詞，Agent 才能輸出正確分析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3310128" cy="192024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828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Cash Flow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2697480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收入與支出的流動情況；重點是「每月剩多少」。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3310128" cy="1920240"/>
          </a:xfrm>
          <a:prstGeom prst="roundRect">
            <a:avLst>
              <a:gd name="adj" fmla="val 6667"/>
            </a:avLst>
          </a:prstGeom>
          <a:solidFill>
            <a:srgbClr val="FFF1D6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828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Savings Rate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儲蓄率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28032" y="2697480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儲蓄佔可支配收入的比例；可判斷財務健康度。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66760" y="1600200"/>
            <a:ext cx="3310128" cy="1920240"/>
          </a:xfrm>
          <a:prstGeom prst="roundRect">
            <a:avLst>
              <a:gd name="adj" fmla="val 6667"/>
            </a:avLst>
          </a:prstGeom>
          <a:solidFill>
            <a:srgbClr val="FEFBF4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2792" y="18288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Budget Category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預算分類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22792" y="2697480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把支出分組：必要、想要、儲蓄與投資。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 / 30 / 20 法則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68680" y="4892040"/>
            <a:ext cx="4983480" cy="530352"/>
          </a:xfrm>
          <a:prstGeom prst="rect">
            <a:avLst/>
          </a:prstGeom>
          <a:solidFill>
            <a:srgbClr val="2F7D78"/>
          </a:solidFill>
          <a:ln w="12700">
            <a:solidFill>
              <a:srgbClr val="2F7D7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4892040"/>
            <a:ext cx="2990088" cy="53035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42248" y="4892040"/>
            <a:ext cx="1993392" cy="530352"/>
          </a:xfrm>
          <a:prstGeom prst="rect">
            <a:avLst/>
          </a:prstGeom>
          <a:solidFill>
            <a:srgbClr val="6FAFA4"/>
          </a:solidFill>
          <a:ln w="12700">
            <a:solidFill>
              <a:srgbClr val="6FAFA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04748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50% 必要支出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5047488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30% 想要支出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79408" y="5047488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20% 儲蓄投資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715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公式：儲蓄率 =（月收入－月總支出）÷ 月收入 × 100%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能力邊界設計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避免被誤認為投資顧問，是此類 Agent 的關鍵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pic>
        <p:nvPicPr>
          <p:cNvPr id="7" name="Image 0" descr="/mnt/data/a_clean_modern_high_quality_3d_illustration_styl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715225"/>
            <a:ext cx="4709160" cy="26503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1481328"/>
            <a:ext cx="2743200" cy="4251960"/>
          </a:xfrm>
          <a:prstGeom prst="roundRect">
            <a:avLst>
              <a:gd name="adj" fmla="val 4667"/>
            </a:avLst>
          </a:prstGeom>
          <a:solidFill>
            <a:srgbClr val="EAF3F1"/>
          </a:solidFill>
          <a:ln w="12700">
            <a:solidFill>
              <a:srgbClr val="D9E8E5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30752" y="1481328"/>
            <a:ext cx="2743200" cy="4251960"/>
          </a:xfrm>
          <a:prstGeom prst="roundRect">
            <a:avLst>
              <a:gd name="adj" fmla="val 4667"/>
            </a:avLst>
          </a:prstGeom>
          <a:solidFill>
            <a:srgbClr val="FFF1D6"/>
          </a:solidFill>
          <a:ln w="12700">
            <a:solidFill>
              <a:srgbClr val="EAD6A7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764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可以做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2240280"/>
            <a:ext cx="214884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整理消費紀錄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分類支出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計算儲蓄率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做預算表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緊急預備金規劃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生活化解釋財務觀念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3986784" y="176479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64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不應該做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86784" y="2240280"/>
            <a:ext cx="214884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保證投資獲利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指定買某支股票或幣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取代理財顧問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要求身分證或帳號
</a:t>
            </a:r>
            <a:pPr indent="0" marL="0">
              <a:buNone/>
            </a:pPr>
            <a:r>
              <a:rPr lang="en-US" sz="138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保存高度敏感財務資料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6949440" y="5212080"/>
            <a:ext cx="4096512" cy="530352"/>
          </a:xfrm>
          <a:prstGeom prst="roundRect">
            <a:avLst>
              <a:gd name="adj" fmla="val 24138"/>
            </a:avLst>
          </a:prstGeom>
          <a:solidFill>
            <a:srgbClr val="FEFBF4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50608" y="538581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邊界句：本分析為家庭預算教育參考，不構成正式投資、稅務、保險或法律建議。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Agent 製作流程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從設定欄位到測試 Prompt 的實作步驟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572768"/>
            <a:ext cx="530352" cy="530352"/>
          </a:xfrm>
          <a:prstGeom prst="ellipse">
            <a:avLst/>
          </a:prstGeom>
          <a:solidFill>
            <a:srgbClr val="2F7D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70992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00784" y="15910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GPT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14800" y="162763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 Explore GPTs / Create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1133856" y="2103120"/>
            <a:ext cx="0" cy="320040"/>
          </a:xfrm>
          <a:prstGeom prst="line">
            <a:avLst/>
          </a:prstGeom>
          <a:noFill/>
          <a:ln w="25400">
            <a:solidFill>
              <a:srgbClr val="C8DA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423160"/>
            <a:ext cx="530352" cy="53035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56032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00784" y="24414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設定名稱與描述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114800" y="247802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強調家庭財務、預算、儲蓄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1133856" y="2953512"/>
            <a:ext cx="0" cy="320040"/>
          </a:xfrm>
          <a:prstGeom prst="line">
            <a:avLst/>
          </a:prstGeom>
          <a:noFill/>
          <a:ln w="25400">
            <a:solidFill>
              <a:srgbClr val="C8DA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273552"/>
            <a:ext cx="530352" cy="530352"/>
          </a:xfrm>
          <a:prstGeom prst="ellipse">
            <a:avLst/>
          </a:prstGeom>
          <a:solidFill>
            <a:srgbClr val="2F7D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341071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00784" y="3291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 Instructions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114800" y="332841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定義角色、流程、公式、邊界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1133856" y="3803904"/>
            <a:ext cx="0" cy="320040"/>
          </a:xfrm>
          <a:prstGeom prst="line">
            <a:avLst/>
          </a:prstGeom>
          <a:noFill/>
          <a:ln w="25400">
            <a:solidFill>
              <a:srgbClr val="C8DA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123944"/>
            <a:ext cx="530352" cy="530352"/>
          </a:xfrm>
          <a:prstGeom prst="ellipse">
            <a:avLst/>
          </a:prstGeom>
          <a:solidFill>
            <a:srgbClr val="D69E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26110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00784" y="41422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加入開場白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114800" y="417880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放入月度分析與儲蓄目標題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1133856" y="4654296"/>
            <a:ext cx="0" cy="320040"/>
          </a:xfrm>
          <a:prstGeom prst="line">
            <a:avLst/>
          </a:prstGeom>
          <a:noFill/>
          <a:ln w="25400">
            <a:solidFill>
              <a:srgbClr val="C8DA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974336"/>
            <a:ext cx="530352" cy="530352"/>
          </a:xfrm>
          <a:prstGeom prst="ellipse">
            <a:avLst/>
          </a:prstGeom>
          <a:solidFill>
            <a:srgbClr val="2F7D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51114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00784" y="49926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測試與修正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114800" y="502920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Easy / Hard 練習題驗證計算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9144000" y="1591056"/>
            <a:ext cx="2212848" cy="3566160"/>
          </a:xfrm>
          <a:prstGeom prst="roundRect">
            <a:avLst>
              <a:gd name="adj" fmla="val 5785"/>
            </a:avLst>
          </a:prstGeom>
          <a:solidFill>
            <a:srgbClr val="EAF3F1"/>
          </a:solidFill>
          <a:ln w="12700">
            <a:solidFill>
              <a:srgbClr val="D9E8E5">
                <a:alpha val="7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學生完成品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418320" y="251460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可輸入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消費明細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與儲蓄目標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00032" y="391363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輸出分類、比例檢查、下月預算與行動建議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Instructions 設計重點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Agent 的判斷邏輯寫清楚，回覆品質才穩定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FEFBF4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1755648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F7D78"/>
          </a:solidFill>
          <a:ln w="12700">
            <a:solidFill>
              <a:srgbClr val="2F7D7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8150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0976" y="225856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你是耐心、務實的家庭財務顧問與記帳教練。</a:t>
            </a:r>
            <a:endParaRPr lang="en-US" sz="1370" dirty="0"/>
          </a:p>
        </p:txBody>
      </p:sp>
      <p:sp>
        <p:nvSpPr>
          <p:cNvPr id="11" name="Shape 9"/>
          <p:cNvSpPr/>
          <p:nvPr/>
        </p:nvSpPr>
        <p:spPr>
          <a:xfrm>
            <a:off x="4526280" y="157276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FEFBF4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1755648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F7D78"/>
          </a:solidFill>
          <a:ln w="12700">
            <a:solidFill>
              <a:srgbClr val="2F7D7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8150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45736" y="225856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整理收支、分類支出、計算儲蓄率、建立預算。</a:t>
            </a:r>
            <a:endParaRPr lang="en-US" sz="1370" dirty="0"/>
          </a:p>
        </p:txBody>
      </p:sp>
      <p:sp>
        <p:nvSpPr>
          <p:cNvPr id="15" name="Shape 13"/>
          <p:cNvSpPr/>
          <p:nvPr/>
        </p:nvSpPr>
        <p:spPr>
          <a:xfrm>
            <a:off x="8321040" y="157276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FEFBF4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2208" y="1755648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F7D78"/>
          </a:solidFill>
          <a:ln w="12700">
            <a:solidFill>
              <a:srgbClr val="2F7D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3648" y="18150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40496" y="225856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固定使用現金流與儲蓄率公式，避免憑感覺分析。</a:t>
            </a:r>
            <a:endParaRPr lang="en-US" sz="1370" dirty="0"/>
          </a:p>
        </p:txBody>
      </p:sp>
      <p:sp>
        <p:nvSpPr>
          <p:cNvPr id="19" name="Shape 17"/>
          <p:cNvSpPr/>
          <p:nvPr/>
        </p:nvSpPr>
        <p:spPr>
          <a:xfrm>
            <a:off x="2633472" y="395020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FEFBF4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4133088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F7D78"/>
          </a:solidFill>
          <a:ln w="12700">
            <a:solidFill>
              <a:srgbClr val="2F7D7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19252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52928" y="463600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輸出財務摘要、分類表、50/30/20 檢查、改善建議。</a:t>
            </a:r>
            <a:endParaRPr lang="en-US" sz="1370" dirty="0"/>
          </a:p>
        </p:txBody>
      </p:sp>
      <p:sp>
        <p:nvSpPr>
          <p:cNvPr id="23" name="Shape 21"/>
          <p:cNvSpPr/>
          <p:nvPr/>
        </p:nvSpPr>
        <p:spPr>
          <a:xfrm>
            <a:off x="6428232" y="395020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FFF1D6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4133088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19252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47688" y="4636008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不保證獲利、不指定投資商品、不蒐集敏感資訊。</a:t>
            </a:r>
            <a:endParaRPr lang="en-US" sz="1370" dirty="0"/>
          </a:p>
        </p:txBody>
      </p:sp>
      <p:sp>
        <p:nvSpPr>
          <p:cNvPr id="27" name="Text 25"/>
          <p:cNvSpPr/>
          <p:nvPr/>
        </p:nvSpPr>
        <p:spPr>
          <a:xfrm>
            <a:off x="914400" y="58704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建議語氣：繁體中文、清楚、溫和、務實；遇到術語要用生活化方式解釋。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課堂實作練習設計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用兩個練習驗證 Agent 是否真的能計算與規劃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58952" y="1481328"/>
            <a:ext cx="5074920" cy="4480560"/>
          </a:xfrm>
          <a:prstGeom prst="roundRect">
            <a:avLst>
              <a:gd name="adj" fmla="val 2857"/>
            </a:avLst>
          </a:prstGeom>
          <a:solidFill>
            <a:srgbClr val="EAF3F1"/>
          </a:solidFill>
          <a:ln w="12700">
            <a:solidFill>
              <a:srgbClr val="D9E8E5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481328"/>
            <a:ext cx="5074920" cy="4480560"/>
          </a:xfrm>
          <a:prstGeom prst="roundRect">
            <a:avLst>
              <a:gd name="adj" fmla="val 2857"/>
            </a:avLst>
          </a:prstGeom>
          <a:solidFill>
            <a:srgbClr val="FFF1D6"/>
          </a:solidFill>
          <a:ln w="12700">
            <a:solidFill>
              <a:srgbClr val="EAD6A7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8105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Easy｜月度消費分析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8992" y="2395728"/>
            <a:ext cx="4251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月薪 38,000 元
</a:t>
            </a:r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房租 12,000 元
</a:t>
            </a:r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輸入 10 筆可變消費
</a:t>
            </a:r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讓 AI 分類與計算儲蓄率
</a:t>
            </a:r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找出 50/30/20 超標項目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50109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正確驗證：月總支出 26,830 元；儲蓄率約 29.4%。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656832" y="18105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Hard｜長期儲蓄目標規劃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2395728"/>
            <a:ext cx="425196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月薪 42,000 元
</a:t>
            </a:r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每月固定支出 28,000 元
</a:t>
            </a:r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目前存款 35,000 元
</a:t>
            </a:r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2 年後存到 200,000 元
</a:t>
            </a:r>
            <a:pPr indent="0" marL="0">
              <a:buNone/>
            </a:pPr>
            <a:r>
              <a:rPr lang="en-US" sz="1550" dirty="0">
                <a:solidFill>
                  <a:srgbClr val="1233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設計 12 週存錢挑戰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75120" y="50109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正確驗證：尚需 165,000 元；每月應存 6,875 元，可行。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92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6583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延伸應用與產品化路線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170432"/>
            <a:ext cx="7498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從無程式 GPT 到 Java + AI 完整系統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938528" cy="3337560"/>
          </a:xfrm>
          <a:prstGeom prst="roundRect">
            <a:avLst>
              <a:gd name="adj" fmla="val 6604"/>
            </a:avLst>
          </a:prstGeom>
          <a:solidFill>
            <a:srgbClr val="EAF3F1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848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670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純文字 GPT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3694176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貼上消費紀錄，產生分析報告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90088" y="1828800"/>
            <a:ext cx="1938528" cy="3337560"/>
          </a:xfrm>
          <a:prstGeom prst="roundRect">
            <a:avLst>
              <a:gd name="adj" fmla="val 6604"/>
            </a:avLst>
          </a:prstGeom>
          <a:solidFill>
            <a:srgbClr val="FFF1D6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20848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72968" y="2670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/ Excel 分析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91256" y="3694176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上傳記帳檔，產生圖表與月報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94376" y="1828800"/>
            <a:ext cx="1938528" cy="3337560"/>
          </a:xfrm>
          <a:prstGeom prst="roundRect">
            <a:avLst>
              <a:gd name="adj" fmla="val 6604"/>
            </a:avLst>
          </a:prstGeom>
          <a:solidFill>
            <a:srgbClr val="EAF3F1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5544" y="20848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77256" y="2670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Sheets / Notion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95544" y="3694176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建立每週財務週報自動化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98664" y="1828800"/>
            <a:ext cx="1938528" cy="3337560"/>
          </a:xfrm>
          <a:prstGeom prst="roundRect">
            <a:avLst>
              <a:gd name="adj" fmla="val 6604"/>
            </a:avLst>
          </a:prstGeom>
          <a:solidFill>
            <a:srgbClr val="FFF1D6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0848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9E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81544" y="2670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n8n 自動化流程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99832" y="3694176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記帳表單 → AI 分析 → Email / LINE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902952" y="1828800"/>
            <a:ext cx="1938528" cy="3337560"/>
          </a:xfrm>
          <a:prstGeom prst="roundRect">
            <a:avLst>
              <a:gd name="adj" fmla="val 6604"/>
            </a:avLst>
          </a:prstGeom>
          <a:solidFill>
            <a:srgbClr val="EAF3F1"/>
          </a:solidFill>
          <a:ln w="12700">
            <a:solidFill>
              <a:srgbClr val="E4D9C7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04120" y="20848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7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Level 5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85832" y="2670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 產品化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104120" y="3694176"/>
            <a:ext cx="1536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D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會員、MySQL、報表、OpenAI API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51560" y="57972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3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課程銜接：生活型 Agent → 資料分析 → 自動化 → Java + AI 專案實戰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家庭財務管理 GPT AI Agent 課綱簡報</dc:title>
  <dc:subject>家庭財務管理 GPT AI Agent 課綱簡報</dc:subject>
  <dc:creator>OpenAI</dc:creator>
  <cp:lastModifiedBy>OpenAI</cp:lastModifiedBy>
  <cp:revision>1</cp:revision>
  <dcterms:created xsi:type="dcterms:W3CDTF">2026-06-14T02:55:35Z</dcterms:created>
  <dcterms:modified xsi:type="dcterms:W3CDTF">2026-06-14T02:55:35Z</dcterms:modified>
</cp:coreProperties>
</file>