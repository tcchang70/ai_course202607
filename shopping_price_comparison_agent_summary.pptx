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hero_right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0"/>
            <a:ext cx="63367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852160" cy="6858000"/>
          </a:xfrm>
          <a:prstGeom prst="rect">
            <a:avLst/>
          </a:prstGeom>
          <a:solidFill>
            <a:srgbClr val="F6EFE5"/>
          </a:solidFill>
          <a:ln w="12700">
            <a:solidFill>
              <a:srgbClr val="F6EFE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685800"/>
            <a:ext cx="2057400" cy="292608"/>
          </a:xfrm>
          <a:prstGeom prst="roundRect">
            <a:avLst>
              <a:gd name="adj" fmla="val 18750"/>
            </a:avLst>
          </a:prstGeom>
          <a:solidFill>
            <a:srgbClr val="1F3552"/>
          </a:solidFill>
          <a:ln w="12700">
            <a:solidFill>
              <a:srgbClr val="1F3552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58952" y="754380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 AI AGENT 摘要簡報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58368" y="1481328"/>
            <a:ext cx="512064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購物比價與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採購建議助理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713232" y="3429000"/>
            <a:ext cx="48463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把「我想買東西」轉成可分析的採購條件，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AI 完成比較、取捨與理性建議。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13232" y="4663440"/>
            <a:ext cx="2560320" cy="0"/>
          </a:xfrm>
          <a:prstGeom prst="line">
            <a:avLst/>
          </a:prstGeom>
          <a:noFill/>
          <a:ln w="27940">
            <a:solidFill>
              <a:srgbClr val="E88C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91947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6F9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條件篩選｜取捨分析｜推薦排序｜防衝動購物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3949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定位與目的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從購物慾望，轉換成理性採購決策</a:t>
            </a:r>
            <a:endParaRPr lang="en-US" sz="1250" dirty="0"/>
          </a:p>
        </p:txBody>
      </p:sp>
      <p:pic>
        <p:nvPicPr>
          <p:cNvPr id="4" name="Image 0" descr="/mnt/data/ai_panel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6832" y="960120"/>
            <a:ext cx="4983480" cy="5166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1417320"/>
            <a:ext cx="53035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1755648"/>
            <a:ext cx="512064" cy="512064"/>
          </a:xfrm>
          <a:prstGeom prst="ellipse">
            <a:avLst/>
          </a:prstGeom>
          <a:solidFill>
            <a:srgbClr val="E88C4A"/>
          </a:solidFill>
          <a:ln w="12700">
            <a:solidFill>
              <a:srgbClr val="E88C4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1847088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🛒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27632" y="1581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輸入：我想買東西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27632" y="19842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使用者通常只有模糊需求、廣告印象或品牌偏好。</a:t>
            </a:r>
            <a:endParaRPr lang="en-US" sz="1260" dirty="0"/>
          </a:p>
        </p:txBody>
      </p:sp>
      <p:sp>
        <p:nvSpPr>
          <p:cNvPr id="10" name="Shape 7"/>
          <p:cNvSpPr/>
          <p:nvPr/>
        </p:nvSpPr>
        <p:spPr>
          <a:xfrm>
            <a:off x="658368" y="2971800"/>
            <a:ext cx="53035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960120" y="3319272"/>
            <a:ext cx="512064" cy="512064"/>
          </a:xfrm>
          <a:prstGeom prst="ellipse">
            <a:avLst/>
          </a:prstGeom>
          <a:solidFill>
            <a:srgbClr val="2F6F9F"/>
          </a:solidFill>
          <a:ln w="12700">
            <a:solidFill>
              <a:srgbClr val="2F6F9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41071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🤖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627632" y="3145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處理：整理與比較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627632" y="35478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把預算、用途、必備、偏好、排除條件轉成表格。</a:t>
            </a:r>
            <a:endParaRPr lang="en-US" sz="1260" dirty="0"/>
          </a:p>
        </p:txBody>
      </p:sp>
      <p:sp>
        <p:nvSpPr>
          <p:cNvPr id="15" name="Shape 12"/>
          <p:cNvSpPr/>
          <p:nvPr/>
        </p:nvSpPr>
        <p:spPr>
          <a:xfrm>
            <a:off x="658368" y="4526280"/>
            <a:ext cx="530352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960120" y="4873752"/>
            <a:ext cx="512064" cy="512064"/>
          </a:xfrm>
          <a:prstGeom prst="ellipse">
            <a:avLst/>
          </a:prstGeom>
          <a:solidFill>
            <a:srgbClr val="2F8F6F"/>
          </a:solidFill>
          <a:ln w="12700">
            <a:solidFill>
              <a:srgbClr val="2F8F6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0120" y="4965192"/>
            <a:ext cx="512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627632" y="4700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輸出：可執行建議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1627632" y="51023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首推、次推、省錢選項，並提醒不該買的理由。</a:t>
            </a:r>
            <a:endParaRPr lang="en-US" sz="1260" dirty="0"/>
          </a:p>
        </p:txBody>
      </p:sp>
      <p:sp>
        <p:nvSpPr>
          <p:cNvPr id="20" name="Text 17"/>
          <p:cNvSpPr/>
          <p:nvPr/>
        </p:nvSpPr>
        <p:spPr>
          <a:xfrm>
            <a:off x="50292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課程｜購物比價與採購建議助理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3949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四大核心能力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AI 替代「比較」的腦力勞動，而不是替人衝動下單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508760"/>
            <a:ext cx="5166360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6733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F9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93792" y="173736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🔎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41832" y="2075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條件篩選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41832" y="2496312"/>
            <a:ext cx="4434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依預算、用途、必備功能、排除條件，快速過濾不適合的商品。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941832" y="1984248"/>
            <a:ext cx="822960" cy="0"/>
          </a:xfrm>
          <a:prstGeom prst="line">
            <a:avLst/>
          </a:prstGeom>
          <a:noFill/>
          <a:ln w="25400">
            <a:solidFill>
              <a:srgbClr val="2F6F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508760"/>
            <a:ext cx="5166360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67335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44200" y="173736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⚖️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0756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取捨分析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92240" y="2496312"/>
            <a:ext cx="4434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比較價格、功能、品牌、耐用度、評價與售後服務。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92240" y="1984248"/>
            <a:ext cx="822960" cy="0"/>
          </a:xfrm>
          <a:prstGeom prst="line">
            <a:avLst/>
          </a:prstGeom>
          <a:noFill/>
          <a:ln w="25400">
            <a:solidFill>
              <a:srgbClr val="E88C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886200"/>
            <a:ext cx="5166360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1832" y="405079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F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193792" y="411480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🏆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41832" y="4453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推薦排序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41832" y="4873752"/>
            <a:ext cx="4434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產出首推、次推、省錢選項，讓選擇更有依據。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41832" y="4361688"/>
            <a:ext cx="822960" cy="0"/>
          </a:xfrm>
          <a:prstGeom prst="line">
            <a:avLst/>
          </a:prstGeom>
          <a:noFill/>
          <a:ln w="25400">
            <a:solidFill>
              <a:srgbClr val="2F8F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3886200"/>
            <a:ext cx="5166360" cy="1591056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92240" y="4050792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5A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44200" y="411480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🧠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492240" y="44531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防衝動購物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492240" y="4873752"/>
            <a:ext cx="44348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判斷真正需要、可以等等、建議不買，降低廣告影響。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492240" y="4361688"/>
            <a:ext cx="822960" cy="0"/>
          </a:xfrm>
          <a:prstGeom prst="line">
            <a:avLst/>
          </a:prstGeom>
          <a:noFill/>
          <a:ln w="25400">
            <a:solidFill>
              <a:srgbClr val="D85A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課程｜購物比價與採購建議助理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3949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採購決策流程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從需求分析到最終建議，建立標準化輸出</a:t>
            </a:r>
            <a:endParaRPr lang="en-US" sz="1250" dirty="0"/>
          </a:p>
        </p:txBody>
      </p:sp>
      <p:pic>
        <p:nvPicPr>
          <p:cNvPr id="4" name="Image 0" descr="/mnt/data/flow_wide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53328" y="1078992"/>
            <a:ext cx="5532120" cy="44439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" y="1344168"/>
            <a:ext cx="384048" cy="384048"/>
          </a:xfrm>
          <a:prstGeom prst="ellipse">
            <a:avLst/>
          </a:prstGeom>
          <a:solidFill>
            <a:srgbClr val="1F3552"/>
          </a:solidFill>
          <a:ln>
            <a:solidFill>
              <a:srgbClr val="1F3552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98448" y="132588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需求分析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3364992" y="1353312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我真正需要什麼？</a:t>
            </a:r>
            <a:endParaRPr lang="en-US" sz="1180" dirty="0"/>
          </a:p>
        </p:txBody>
      </p:sp>
      <p:sp>
        <p:nvSpPr>
          <p:cNvPr id="8" name="Text 5"/>
          <p:cNvSpPr/>
          <p:nvPr/>
        </p:nvSpPr>
        <p:spPr>
          <a:xfrm>
            <a:off x="749808" y="2185416"/>
            <a:ext cx="384048" cy="384048"/>
          </a:xfrm>
          <a:prstGeom prst="ellipse">
            <a:avLst/>
          </a:prstGeom>
          <a:solidFill>
            <a:srgbClr val="2F6F9F"/>
          </a:solidFill>
          <a:ln>
            <a:solidFill>
              <a:srgbClr val="2F6F9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98448" y="21671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硬性條件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3364992" y="219456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預算上限、必備功能</a:t>
            </a:r>
            <a:endParaRPr lang="en-US" sz="1180" dirty="0"/>
          </a:p>
        </p:txBody>
      </p:sp>
      <p:sp>
        <p:nvSpPr>
          <p:cNvPr id="11" name="Text 8"/>
          <p:cNvSpPr/>
          <p:nvPr/>
        </p:nvSpPr>
        <p:spPr>
          <a:xfrm>
            <a:off x="749808" y="3026664"/>
            <a:ext cx="384048" cy="384048"/>
          </a:xfrm>
          <a:prstGeom prst="ellipse">
            <a:avLst/>
          </a:prstGeom>
          <a:solidFill>
            <a:srgbClr val="2F8F6F"/>
          </a:solidFill>
          <a:ln>
            <a:solidFill>
              <a:srgbClr val="2F8F6F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98448" y="30083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軟性條件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364992" y="303580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偏好、加分選項</a:t>
            </a:r>
            <a:endParaRPr lang="en-US" sz="1180" dirty="0"/>
          </a:p>
        </p:txBody>
      </p:sp>
      <p:sp>
        <p:nvSpPr>
          <p:cNvPr id="14" name="Text 11"/>
          <p:cNvSpPr/>
          <p:nvPr/>
        </p:nvSpPr>
        <p:spPr>
          <a:xfrm>
            <a:off x="749808" y="3867912"/>
            <a:ext cx="384048" cy="384048"/>
          </a:xfrm>
          <a:prstGeom prst="ellipse">
            <a:avLst/>
          </a:prstGeom>
          <a:solidFill>
            <a:srgbClr val="D85A4E"/>
          </a:solidFill>
          <a:ln>
            <a:solidFill>
              <a:srgbClr val="D85A4E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298448" y="384962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排除條件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3364992" y="387705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不能接受的特性</a:t>
            </a:r>
            <a:endParaRPr lang="en-US" sz="1180" dirty="0"/>
          </a:p>
        </p:txBody>
      </p:sp>
      <p:sp>
        <p:nvSpPr>
          <p:cNvPr id="17" name="Text 14"/>
          <p:cNvSpPr/>
          <p:nvPr/>
        </p:nvSpPr>
        <p:spPr>
          <a:xfrm>
            <a:off x="749808" y="4709160"/>
            <a:ext cx="384048" cy="384048"/>
          </a:xfrm>
          <a:prstGeom prst="ellipse">
            <a:avLst/>
          </a:prstGeom>
          <a:solidFill>
            <a:srgbClr val="E88C4A"/>
          </a:solidFill>
          <a:ln>
            <a:solidFill>
              <a:srgbClr val="E88C4A">
                <a:alpha val="0"/>
              </a:srgbClr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298448" y="469087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比較輸出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3364992" y="471830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表格比較＋推薦排序</a:t>
            </a:r>
            <a:endParaRPr lang="en-US" sz="1180" dirty="0"/>
          </a:p>
        </p:txBody>
      </p:sp>
      <p:sp>
        <p:nvSpPr>
          <p:cNvPr id="20" name="Shape 17"/>
          <p:cNvSpPr/>
          <p:nvPr/>
        </p:nvSpPr>
        <p:spPr>
          <a:xfrm>
            <a:off x="713232" y="5669280"/>
            <a:ext cx="5120640" cy="502920"/>
          </a:xfrm>
          <a:prstGeom prst="roundRect">
            <a:avLst>
              <a:gd name="adj" fmla="val 21818"/>
            </a:avLst>
          </a:prstGeom>
          <a:solidFill>
            <a:srgbClr val="FFF8EF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987552" y="5833872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結論：AI 做比較，人做最後決定。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0292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課程｜購物比價與採購建議助理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3949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標準輸出：讓學生一看就會用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每次購物都能套用固定格式，降低 Prompt 門檻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547872" cy="443484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600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需求整理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176272"/>
            <a:ext cx="2377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使用場景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Must-have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Nice-to-have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Dealbreaker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084064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2F6F9F"/>
          </a:solidFill>
          <a:ln w="12700">
            <a:solidFill>
              <a:srgbClr val="2F6F9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5152644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先定條件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15968" y="1325880"/>
            <a:ext cx="3547872" cy="443484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1600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商品比較表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572000" y="2176272"/>
            <a:ext cx="2788920" cy="384048"/>
          </a:xfrm>
          <a:prstGeom prst="roundRect">
            <a:avLst>
              <a:gd name="adj" fmla="val 9524"/>
            </a:avLst>
          </a:prstGeom>
          <a:solidFill>
            <a:srgbClr val="1F355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2295144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559552" y="2295144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價格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0" y="2295144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理由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2651760"/>
            <a:ext cx="2788920" cy="384048"/>
          </a:xfrm>
          <a:prstGeom prst="roundRect">
            <a:avLst>
              <a:gd name="adj" fmla="val 9524"/>
            </a:avLst>
          </a:prstGeom>
          <a:solidFill>
            <a:srgbClr val="F3F1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2770632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A款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559552" y="2770632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$$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0" y="277063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首推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0" y="3127248"/>
            <a:ext cx="2788920" cy="384048"/>
          </a:xfrm>
          <a:prstGeom prst="roundRect">
            <a:avLst>
              <a:gd name="adj" fmla="val 9524"/>
            </a:avLst>
          </a:prstGeom>
          <a:solidFill>
            <a:srgbClr val="F3F1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3246120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B款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559552" y="3246120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400800" y="3246120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省錢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572000" y="3602736"/>
            <a:ext cx="2788920" cy="384048"/>
          </a:xfrm>
          <a:prstGeom prst="roundRect">
            <a:avLst>
              <a:gd name="adj" fmla="val 9524"/>
            </a:avLst>
          </a:prstGeom>
          <a:solidFill>
            <a:srgbClr val="F3F1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3721608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C款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59552" y="3721608"/>
            <a:ext cx="7315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$$$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400800" y="3721608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功能多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5084064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2F8F6F"/>
          </a:solidFill>
          <a:ln w="12700">
            <a:solidFill>
              <a:srgbClr val="2F8F6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5152644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再做比較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991856" y="1325880"/>
            <a:ext cx="3547872" cy="4434840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47888" y="16002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推薦排序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8275320" y="2176272"/>
            <a:ext cx="2606040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第一名：最符合需求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第二名：功能較完整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第三名：省錢選項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不建議：明確說原因</a:t>
            </a:r>
            <a:endParaRPr lang="en-US" sz="1520" dirty="0"/>
          </a:p>
        </p:txBody>
      </p:sp>
      <p:sp>
        <p:nvSpPr>
          <p:cNvPr id="32" name="Shape 30"/>
          <p:cNvSpPr/>
          <p:nvPr/>
        </p:nvSpPr>
        <p:spPr>
          <a:xfrm>
            <a:off x="8275320" y="5084064"/>
            <a:ext cx="1325880" cy="292608"/>
          </a:xfrm>
          <a:prstGeom prst="roundRect">
            <a:avLst>
              <a:gd name="adj" fmla="val 18750"/>
            </a:avLst>
          </a:prstGeom>
          <a:solidFill>
            <a:srgbClr val="E88C4A"/>
          </a:solidFill>
          <a:ln w="12700">
            <a:solidFill>
              <a:srgbClr val="E88C4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48472" y="5152644"/>
            <a:ext cx="1179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最後決策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課程｜購物比價與採購建議助理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3949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防衝動購物：三種判斷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把廣告觸發的購買慾，轉成理性消費檢查</a:t>
            </a:r>
            <a:endParaRPr lang="en-US" sz="1250" dirty="0"/>
          </a:p>
        </p:txBody>
      </p:sp>
      <p:pic>
        <p:nvPicPr>
          <p:cNvPr id="4" name="Image 0" descr="/mnt/data/hero_small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977640" cy="4526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74920" y="1417320"/>
            <a:ext cx="6263640" cy="987552"/>
          </a:xfrm>
          <a:prstGeom prst="roundRect">
            <a:avLst>
              <a:gd name="adj" fmla="val 11111"/>
            </a:avLst>
          </a:prstGeom>
          <a:solidFill>
            <a:srgbClr val="F1FAF4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76672" y="164592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8F6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✅ 合理購買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498080" y="167335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有明確痛點，會改善工作、生活或安全。</a:t>
            </a:r>
            <a:endParaRPr lang="en-US" sz="1320" dirty="0"/>
          </a:p>
        </p:txBody>
      </p:sp>
      <p:sp>
        <p:nvSpPr>
          <p:cNvPr id="8" name="Shape 5"/>
          <p:cNvSpPr/>
          <p:nvPr/>
        </p:nvSpPr>
        <p:spPr>
          <a:xfrm>
            <a:off x="5074920" y="2834640"/>
            <a:ext cx="6263640" cy="987552"/>
          </a:xfrm>
          <a:prstGeom prst="roundRect">
            <a:avLst>
              <a:gd name="adj" fmla="val 11111"/>
            </a:avLst>
          </a:prstGeom>
          <a:solidFill>
            <a:srgbClr val="FFF7EB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376672" y="30632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C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⚠️ 可以等等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98080" y="30906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有興趣但需求還不穩定，先設定觀察條件。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5074920" y="4251960"/>
            <a:ext cx="6263640" cy="987552"/>
          </a:xfrm>
          <a:prstGeom prst="roundRect">
            <a:avLst>
              <a:gd name="adj" fmla="val 11111"/>
            </a:avLst>
          </a:prstGeom>
          <a:solidFill>
            <a:srgbClr val="FFF1F0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376672" y="448056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85A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❌ 建議不買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498080" y="450799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重複、廣告刺激、低使用率或不符合預算。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5102352" y="5687568"/>
            <a:ext cx="6126480" cy="0"/>
          </a:xfrm>
          <a:prstGeom prst="line">
            <a:avLst/>
          </a:prstGeom>
          <a:noFill/>
          <a:ln w="13970">
            <a:solidFill>
              <a:srgbClr val="D9CE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30368" y="589788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教學重點：AI 不會被廣告情緒牽動，適合用來做客觀取捨。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02920" y="647395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Agent 課程｜購物比價與採購建議助理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1292840" y="6446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A7A7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EF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5394960" cy="4572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課程成果與應用延伸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544068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用一個採購 Agent，帶學生理解 GPT Agent 的商業價值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417320"/>
            <a:ext cx="53035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1719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學生完成品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4128" y="2331720"/>
            <a:ext cx="429768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每位學生做出自己的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「購物比價與採購建議助理」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可用於家電、筆電、課程、工具採購。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24128" y="4434840"/>
            <a:ext cx="1874520" cy="292608"/>
          </a:xfrm>
          <a:prstGeom prst="roundRect">
            <a:avLst>
              <a:gd name="adj" fmla="val 18750"/>
            </a:avLst>
          </a:prstGeom>
          <a:solidFill>
            <a:srgbClr val="2F6F9F"/>
          </a:solidFill>
          <a:ln w="12700">
            <a:solidFill>
              <a:srgbClr val="2F6F9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503420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零程式也能完成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72784" y="141732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8890">
            <a:solidFill>
              <a:srgbClr val="E6DED2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D7CDBF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47104" y="17190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進階銜接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0" y="2331720"/>
            <a:ext cx="411480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下一階段可加入：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Python 抓價格資料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表格自動評分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爬蟲比價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5261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採購報告自動產生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0" y="4434840"/>
            <a:ext cx="2057400" cy="292608"/>
          </a:xfrm>
          <a:prstGeom prst="roundRect">
            <a:avLst>
              <a:gd name="adj" fmla="val 18750"/>
            </a:avLst>
          </a:prstGeom>
          <a:solidFill>
            <a:srgbClr val="E88C4A"/>
          </a:solidFill>
          <a:ln w="12700">
            <a:solidFill>
              <a:srgbClr val="E88C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4503420"/>
            <a:ext cx="1911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導向進階 AI 自動化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08960" y="617220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55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做比較，人做決策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5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low_end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621792"/>
            <a:ext cx="5120640" cy="4846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8686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8D8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</a:t>
            </a:r>
            <a:endParaRPr lang="en-US" sz="1900" dirty="0"/>
          </a:p>
        </p:txBody>
      </p:sp>
      <p:sp>
        <p:nvSpPr>
          <p:cNvPr id="4" name="Text 1"/>
          <p:cNvSpPr/>
          <p:nvPr/>
        </p:nvSpPr>
        <p:spPr>
          <a:xfrm>
            <a:off x="713232" y="149047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購物比價與採購建議助理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2423160"/>
            <a:ext cx="50292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把購物需求變成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可比較、可評分、可決策的採購流程。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49808" y="4160520"/>
            <a:ext cx="2926080" cy="0"/>
          </a:xfrm>
          <a:prstGeom prst="line">
            <a:avLst/>
          </a:prstGeom>
          <a:noFill/>
          <a:ln w="30480">
            <a:solidFill>
              <a:srgbClr val="F8D8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526280"/>
            <a:ext cx="493776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DE9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適合用於：AI Agent 入門課、Prompt 設計課、零程式 AI 應用課。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CodeByX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購物比價與採購建議助理</dc:title>
  <dc:subject>購物比價與採購建議助理摘要簡報</dc:subject>
  <dc:creator>OpenAI</dc:creator>
  <cp:lastModifiedBy>OpenAI</cp:lastModifiedBy>
  <cp:revision>1</cp:revision>
  <dcterms:created xsi:type="dcterms:W3CDTF">2026-06-13T15:48:49Z</dcterms:created>
  <dcterms:modified xsi:type="dcterms:W3CDTF">2026-06-13T15:48:49Z</dcterms:modified>
</cp:coreProperties>
</file>