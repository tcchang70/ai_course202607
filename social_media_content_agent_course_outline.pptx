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這張是封面：強調不是單純產文案，而是建立個人品牌聲音。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本頁講清楚 Agent 的定位與名稱。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用對比讓學生理解：本課核心不是把 AI 當打字員，而是讓 AI 學會品牌語氣。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用核心能力地圖介紹這個 GPT 能完成的實際工作。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這頁可作為教學目標與課後評量標準。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術語要講得實務：Brand Voice 讓內容像你；Hook 讓人停下；CTA 讓人行動。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風格鎖定法是這堂課最重要的可複製方法。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這頁可直接拿來說明課程時間配置。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這頁是課堂練習設計，可直接分組實作。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收尾強調作品交付與你的高階課程銜接。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cozy_modern_workspace_scene_in_a_soft_sty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FFF3E4">
              <a:alpha val="96000"/>
            </a:srgbClr>
          </a:solidFill>
          <a:ln w="12700">
            <a:solidFill>
              <a:srgbClr val="FFF3E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640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3B07F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72694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ChatGPT Custom GPT 課綱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社群媒體與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內容創作輔助 Agent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713232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從「幫我寫貼文」升級成「懂我風格的內容助理」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13232" y="3785616"/>
            <a:ext cx="2286000" cy="0"/>
          </a:xfrm>
          <a:prstGeom prst="line">
            <a:avLst/>
          </a:prstGeom>
          <a:noFill/>
          <a:ln w="50800">
            <a:solidFill>
              <a:srgbClr val="E86F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069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Brand Voice Content Agent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13232" y="61996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適合：AI Agent 入門課｜個人品牌｜內容創作｜課程銷售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一、Agent 定位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AI 從「文案產生器」變成「個人品牌內容助理」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wide_clean_vector_illustration_style_concept_art_batch_2.png">    </p:cNvPr>
          <p:cNvPicPr>
            <a:picLocks noChangeAspect="1"/>
          </p:cNvPicPr>
          <p:nvPr/>
        </p:nvPicPr>
        <p:blipFill>
          <a:blip r:embed="rId1"/>
          <a:srcRect l="14000" r="22311" t="2000" b="4000"/>
          <a:stretch/>
        </p:blipFill>
        <p:spPr>
          <a:xfrm>
            <a:off x="5989320" y="1417320"/>
            <a:ext cx="566928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名稱建議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社群內容創作助理 GPT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072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Brand Voice Content Agent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3401568"/>
            <a:ext cx="4709160" cy="1417320"/>
          </a:xfrm>
          <a:prstGeom prst="roundRect">
            <a:avLst>
              <a:gd name="adj" fmla="val 7742"/>
            </a:avLst>
          </a:prstGeom>
          <a:solidFill>
            <a:srgbClr val="FFFDF8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核心定位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3968496"/>
            <a:ext cx="413308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不是「模板式產文」，而是先理解你的風格、受眾與平台，再產生有辨識度的內容。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13232" y="5257800"/>
            <a:ext cx="1170432" cy="384048"/>
          </a:xfrm>
          <a:prstGeom prst="roundRect">
            <a:avLst>
              <a:gd name="adj" fmla="val 23810"/>
            </a:avLst>
          </a:prstGeom>
          <a:solidFill>
            <a:srgbClr val="FFE9D7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" y="53446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風格分析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984248" y="5257800"/>
            <a:ext cx="1170432" cy="384048"/>
          </a:xfrm>
          <a:prstGeom prst="roundRect">
            <a:avLst>
              <a:gd name="adj" fmla="val 23810"/>
            </a:avLst>
          </a:prstGeom>
          <a:solidFill>
            <a:srgbClr val="FFE9D7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03120" y="53446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品牌聲音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55264" y="5257800"/>
            <a:ext cx="1170432" cy="384048"/>
          </a:xfrm>
          <a:prstGeom prst="roundRect">
            <a:avLst>
              <a:gd name="adj" fmla="val 23810"/>
            </a:avLst>
          </a:prstGeom>
          <a:solidFill>
            <a:srgbClr val="FFE9D7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74136" y="53446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內容排程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二、為什麼需要這個 Agent？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 AI 文案常見問題：好像正確，但不像你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DF8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普通指令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「幫我寫一篇 IG 文案」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87552" y="3323844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內容容易模板化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7552" y="3753612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語氣不像本人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7552" y="4183380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平台格式不精準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7552" y="4613148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535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Hook 與 CTA 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6002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4E8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指令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2377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先鎖定風格，再生成內容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784848" y="3323844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 3 篇參考貼文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84848" y="3753612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Brand Voice Guide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84848" y="4183380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依平台調整格式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84848" y="4613148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3448" y="4535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提供 Hook / CTA / Hashtag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610819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教學重點：不要只問 AI「寫什麼」，要先教 AI「像誰說話」。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三、Agent 核心能力地圖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從品牌風格到多平台內容，再到行事曆規劃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wide_clean_vector_illustration_style_concept_art_batch_2.png">    </p:cNvPr>
          <p:cNvPicPr>
            <a:picLocks noChangeAspect="1"/>
          </p:cNvPicPr>
          <p:nvPr/>
        </p:nvPicPr>
        <p:blipFill>
          <a:blip r:embed="rId1"/>
          <a:srcRect l="8000" r="34974" t="0" b="0"/>
          <a:stretch/>
        </p:blipFill>
        <p:spPr>
          <a:xfrm>
            <a:off x="685800" y="1417320"/>
            <a:ext cx="4892040" cy="4828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417320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FFFDF8"/>
          </a:solidFill>
          <a:ln w="12700">
            <a:solidFill>
              <a:srgbClr val="F3CFB5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54496" y="15270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84264" y="14904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分析個人品牌風格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684264" y="17373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從範例貼文萃取語氣、句長、分段與用字習慣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080760" y="2176272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FFF1E2"/>
          </a:solidFill>
          <a:ln w="12700">
            <a:solidFill>
              <a:srgbClr val="F3CFB5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54496" y="22860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84264" y="22494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Brand Voice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684264" y="249631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整理成可重複使用的品牌聲音指南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080760" y="2935224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FFFDF8"/>
          </a:solidFill>
          <a:ln w="12700">
            <a:solidFill>
              <a:srgbClr val="F3CFB5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4496" y="3044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84264" y="300837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產生多平台文案</a:t>
            </a:r>
            <a:endParaRPr lang="en-US" sz="1230" dirty="0"/>
          </a:p>
        </p:txBody>
      </p:sp>
      <p:sp>
        <p:nvSpPr>
          <p:cNvPr id="17" name="Text 14"/>
          <p:cNvSpPr/>
          <p:nvPr/>
        </p:nvSpPr>
        <p:spPr>
          <a:xfrm>
            <a:off x="6684264" y="325526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IG、FB、Threads、YouTube、LinkedIn 對應格式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080760" y="3694176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FFF1E2"/>
          </a:solidFill>
          <a:ln w="12700">
            <a:solidFill>
              <a:srgbClr val="F3CFB5">
                <a:alpha val="8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54496" y="38039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84264" y="37673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優化 Hook / 標題 / CTA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6684264" y="401421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提高停留、點擊、互動與轉換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080760" y="4453128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FFFDF8"/>
          </a:solidFill>
          <a:ln w="12700">
            <a:solidFill>
              <a:srgbClr val="F3CFB5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54496" y="45628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84264" y="4526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規劃內容行事曆</a:t>
            </a:r>
            <a:endParaRPr lang="en-US" sz="1230" dirty="0"/>
          </a:p>
        </p:txBody>
      </p:sp>
      <p:sp>
        <p:nvSpPr>
          <p:cNvPr id="25" name="Text 22"/>
          <p:cNvSpPr/>
          <p:nvPr/>
        </p:nvSpPr>
        <p:spPr>
          <a:xfrm>
            <a:off x="6684264" y="47731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 7 天或 30 天內容主題與排程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080760" y="5212080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FFF1E2"/>
          </a:solidFill>
          <a:ln w="12700">
            <a:solidFill>
              <a:srgbClr val="F3CFB5">
                <a:alpha val="8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54496" y="53218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684264" y="52852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普通內容個性化</a:t>
            </a:r>
            <a:endParaRPr lang="en-US" sz="1230" dirty="0"/>
          </a:p>
        </p:txBody>
      </p:sp>
      <p:sp>
        <p:nvSpPr>
          <p:cNvPr id="29" name="Text 26"/>
          <p:cNvSpPr/>
          <p:nvPr/>
        </p:nvSpPr>
        <p:spPr>
          <a:xfrm>
            <a:off x="6684264" y="55321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把平凡素材改成有個人特色的貼文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四、學生學習目標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完成後，學生應能獨立建立並使用自己的內容 Agent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41248" y="1481328"/>
            <a:ext cx="10515600" cy="502920"/>
          </a:xfrm>
          <a:prstGeom prst="rect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184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64408" y="1618488"/>
            <a:ext cx="809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學生能做到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1248" y="1984248"/>
            <a:ext cx="2423160" cy="603504"/>
          </a:xfrm>
          <a:prstGeom prst="rect">
            <a:avLst/>
          </a:prstGeom>
          <a:solidFill>
            <a:srgbClr val="FFFDF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1984248"/>
            <a:ext cx="8092440" cy="603504"/>
          </a:xfrm>
          <a:prstGeom prst="rect">
            <a:avLst/>
          </a:prstGeom>
          <a:solidFill>
            <a:srgbClr val="FFFDF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167128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風格分析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65576" y="2148840"/>
            <a:ext cx="7708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貼入 3 篇文章，讓 AI 分析語氣、句長、用字與分段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1248" y="2587752"/>
            <a:ext cx="2423160" cy="603504"/>
          </a:xfrm>
          <a:prstGeom prst="rect">
            <a:avLst/>
          </a:prstGeom>
          <a:solidFill>
            <a:srgbClr val="FFF4E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2587752"/>
            <a:ext cx="8092440" cy="603504"/>
          </a:xfrm>
          <a:prstGeom prst="rect">
            <a:avLst/>
          </a:prstGeom>
          <a:solidFill>
            <a:srgbClr val="FFF4E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77063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文案生成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65576" y="2752344"/>
            <a:ext cx="7708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 IG、FB、YouTube、Threads 等平台文案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41248" y="3191256"/>
            <a:ext cx="2423160" cy="603504"/>
          </a:xfrm>
          <a:prstGeom prst="rect">
            <a:avLst/>
          </a:prstGeom>
          <a:solidFill>
            <a:srgbClr val="FFFDF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3191256"/>
            <a:ext cx="8092440" cy="603504"/>
          </a:xfrm>
          <a:prstGeom prst="rect">
            <a:avLst/>
          </a:prstGeom>
          <a:solidFill>
            <a:srgbClr val="FFFDF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37413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Hook 設計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65576" y="3355848"/>
            <a:ext cx="7708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寫出吸引受眾停下來看的前 3 秒開頭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1248" y="3794760"/>
            <a:ext cx="2423160" cy="603504"/>
          </a:xfrm>
          <a:prstGeom prst="rect">
            <a:avLst/>
          </a:prstGeom>
          <a:solidFill>
            <a:srgbClr val="FFF4E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3794760"/>
            <a:ext cx="8092440" cy="603504"/>
          </a:xfrm>
          <a:prstGeom prst="rect">
            <a:avLst/>
          </a:prstGeom>
          <a:solidFill>
            <a:srgbClr val="FFF4E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9776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CTA 設計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65576" y="3959352"/>
            <a:ext cx="7708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引導留言、分享、點擊、收藏、報名或購買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41248" y="4398264"/>
            <a:ext cx="2423160" cy="603504"/>
          </a:xfrm>
          <a:prstGeom prst="rect">
            <a:avLst/>
          </a:prstGeom>
          <a:solidFill>
            <a:srgbClr val="FFFDF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4398264"/>
            <a:ext cx="8092440" cy="603504"/>
          </a:xfrm>
          <a:prstGeom prst="rect">
            <a:avLst/>
          </a:prstGeom>
          <a:solidFill>
            <a:srgbClr val="FFFDF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58114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品牌聲音建立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65576" y="4562856"/>
            <a:ext cx="7708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整理成 Brand Voice Guide，讓內容風格一致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41248" y="5001768"/>
            <a:ext cx="2423160" cy="603504"/>
          </a:xfrm>
          <a:prstGeom prst="rect">
            <a:avLst/>
          </a:prstGeom>
          <a:solidFill>
            <a:srgbClr val="FFF4E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64408" y="5001768"/>
            <a:ext cx="8092440" cy="603504"/>
          </a:xfrm>
          <a:prstGeom prst="rect">
            <a:avLst/>
          </a:prstGeom>
          <a:solidFill>
            <a:srgbClr val="FFF4E8"/>
          </a:solidFill>
          <a:ln w="8890">
            <a:solidFill>
              <a:srgbClr val="F1D3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5184648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內容排程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65576" y="5166360"/>
            <a:ext cx="7708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規劃 7 天或 30 天內容主題與行事曆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62179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課程判斷標準：學生不是「看懂」，而是能產出自己的 Agent、自己的 Brand Voice、自己的 7 天內容表。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五、關鍵技術術語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三個詞讓學生掌握社群 Agent 的核心邏輯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291840" cy="4160520"/>
          </a:xfrm>
          <a:prstGeom prst="roundRect">
            <a:avLst>
              <a:gd name="adj" fmla="val 3333"/>
            </a:avLst>
          </a:prstGeom>
          <a:solidFill>
            <a:srgbClr val="FFFDF8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Brand Voice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品牌聲音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63040" y="2971800"/>
            <a:ext cx="1920240" cy="0"/>
          </a:xfrm>
          <a:prstGeom prst="line">
            <a:avLst/>
          </a:prstGeom>
          <a:noFill/>
          <a:ln w="25400">
            <a:solidFill>
              <a:srgbClr val="C7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64992"/>
            <a:ext cx="2468880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社群上一貫的說話風格：語氣、用字、節奏、價值觀與情緒溫度。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1490472" y="489204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9344" y="49789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一致性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489204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49789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辨識度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3712" y="1600200"/>
            <a:ext cx="3291840" cy="4160520"/>
          </a:xfrm>
          <a:prstGeom prst="roundRect">
            <a:avLst>
              <a:gd name="adj" fmla="val 3333"/>
            </a:avLst>
          </a:prstGeom>
          <a:solidFill>
            <a:srgbClr val="FFF3E3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9385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Hook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82312" y="2514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鉤子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239512" y="2971800"/>
            <a:ext cx="1920240" cy="0"/>
          </a:xfrm>
          <a:prstGeom prst="line">
            <a:avLst/>
          </a:prstGeom>
          <a:noFill/>
          <a:ln w="25400">
            <a:solidFill>
              <a:srgbClr val="E86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364992"/>
            <a:ext cx="2468880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吸引受眾在前 3 秒停下來看的開頭，常用痛點、數字、反差與問題。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5266944" y="489204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5816" y="49789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停留率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72784" y="489204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49789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辨識度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30184" y="1600200"/>
            <a:ext cx="3291840" cy="4160520"/>
          </a:xfrm>
          <a:prstGeom prst="roundRect">
            <a:avLst>
              <a:gd name="adj" fmla="val 3333"/>
            </a:avLst>
          </a:prstGeom>
          <a:solidFill>
            <a:srgbClr val="FFF8E9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58784" y="19385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7A4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CTA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58784" y="2514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行動呼籲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15984" y="2971800"/>
            <a:ext cx="1920240" cy="0"/>
          </a:xfrm>
          <a:prstGeom prst="line">
            <a:avLst/>
          </a:prstGeom>
          <a:noFill/>
          <a:ln w="25400">
            <a:solidFill>
              <a:srgbClr val="6C7A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41664" y="3364992"/>
            <a:ext cx="2468880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引導讀者採取動作：留言、分享、收藏、點擊、報名、購買。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9043416" y="489204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49789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停留率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49256" y="489204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FE4CC"/>
          </a:solidFill>
          <a:ln w="12700">
            <a:solidFill>
              <a:srgbClr val="F1C7A4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8128" y="497890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六、核心技法：風格鎖定法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AI 寫出像你自己的內容，而非千篇一律模板文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wide_clean_vector_illustration_style_concept_art_batch_2.png">    </p:cNvPr>
          <p:cNvPicPr>
            <a:picLocks noChangeAspect="1"/>
          </p:cNvPicPr>
          <p:nvPr/>
        </p:nvPicPr>
        <p:blipFill>
          <a:blip r:embed="rId1"/>
          <a:srcRect l="0" r="46555" t="4000" b="4000"/>
          <a:stretch/>
        </p:blipFill>
        <p:spPr>
          <a:xfrm>
            <a:off x="640080" y="1444752"/>
            <a:ext cx="4983480" cy="4828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5727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0" y="16642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 3 篇風格最接近的貼文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756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可以是自己的貼文、喜歡的帳號、品牌文案或影片逐字稿。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080760" y="2807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B75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858000" y="28986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 AI 分析文字風格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0" y="33101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語氣、句長、用字習慣、分段、情緒強度、問句與 emoji。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6080760" y="40416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7A4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858000" y="413308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用分析結果生成新內容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0" y="4544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指定平台、受眾、主題、CTA，要求 AI 套用同一套 Brand Voice。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6080760" y="5486400"/>
            <a:ext cx="5257800" cy="530352"/>
          </a:xfrm>
          <a:prstGeom prst="roundRect">
            <a:avLst>
              <a:gd name="adj" fmla="val 20690"/>
            </a:avLst>
          </a:prstGeom>
          <a:solidFill>
            <a:srgbClr val="FFF5E8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565099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一句話總結：先訓練風格，再要求產出。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七、3 小時課程流程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概念、實作、作品一次完成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a_warm_pastel_digital_illustration_infographic_s_batch_3.png">    </p:cNvPr>
          <p:cNvPicPr>
            <a:picLocks noChangeAspect="1"/>
          </p:cNvPicPr>
          <p:nvPr/>
        </p:nvPicPr>
        <p:blipFill>
          <a:blip r:embed="rId1"/>
          <a:srcRect l="16000" r="34555" t="2000" b="6000"/>
          <a:stretch/>
        </p:blipFill>
        <p:spPr>
          <a:xfrm>
            <a:off x="6629400" y="1234440"/>
            <a:ext cx="4846320" cy="5074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444752"/>
            <a:ext cx="5230368" cy="1078992"/>
          </a:xfrm>
          <a:prstGeom prst="roundRect">
            <a:avLst>
              <a:gd name="adj" fmla="val 8475"/>
            </a:avLst>
          </a:prstGeom>
          <a:solidFill>
            <a:srgbClr val="FFFDF8"/>
          </a:solidFill>
          <a:ln w="12700">
            <a:solidFill>
              <a:srgbClr val="EEC8AD">
                <a:alpha val="9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155448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 小時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148840" y="1527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概念與 Agent 建立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20116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Agent 定位   • Brand Voice / Hook / CTA   • 建立 Custom GPT 與 Instructions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2935224"/>
            <a:ext cx="5230368" cy="1078992"/>
          </a:xfrm>
          <a:prstGeom prst="roundRect">
            <a:avLst>
              <a:gd name="adj" fmla="val 8475"/>
            </a:avLst>
          </a:prstGeom>
          <a:solidFill>
            <a:srgbClr val="FFF2E4"/>
          </a:solidFill>
          <a:ln w="12700">
            <a:solidFill>
              <a:srgbClr val="EEC8AD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304495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2 小時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4884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三個練習題實作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33272" y="350215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IG 照片文案   • YouTube 標題優化   • 修正 AI 初稿，加入個人語氣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4425696"/>
            <a:ext cx="5230368" cy="1078992"/>
          </a:xfrm>
          <a:prstGeom prst="roundRect">
            <a:avLst>
              <a:gd name="adj" fmla="val 8475"/>
            </a:avLst>
          </a:prstGeom>
          <a:solidFill>
            <a:srgbClr val="FFF8E8"/>
          </a:solidFill>
          <a:ln w="12700">
            <a:solidFill>
              <a:srgbClr val="EEC8AD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453542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3 小時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48840" y="4507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品牌聲音與商業應用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33272" y="499262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Brand Voice Guide   • 7 天內容行事曆   • 課程銷售 CTA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八、練習題設計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從簡單文案到品牌聲音，逐步建立 Agent 能力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0698480" cy="1060704"/>
          </a:xfrm>
          <a:prstGeom prst="roundRect">
            <a:avLst>
              <a:gd name="adj" fmla="val 6897"/>
            </a:avLst>
          </a:prstGeom>
          <a:solidFill>
            <a:srgbClr val="FFFDF8"/>
          </a:solidFill>
          <a:ln w="12700">
            <a:solidFill>
              <a:srgbClr val="F1CFB8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10512"/>
            <a:ext cx="1005840" cy="384048"/>
          </a:xfrm>
          <a:prstGeom prst="roundRect">
            <a:avLst>
              <a:gd name="adj" fmla="val 23810"/>
            </a:avLst>
          </a:prstGeom>
          <a:solidFill>
            <a:srgbClr val="FFEAD5"/>
          </a:solidFill>
          <a:ln w="12700">
            <a:solidFill>
              <a:srgbClr val="F3B07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89738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Easy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645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IG 照片文案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17720" y="1636776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太魯閣峽谷照片：產出 3 種風格文案與 hashtag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2084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學會 Context / Task / Format / Audience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10698480" cy="1060704"/>
          </a:xfrm>
          <a:prstGeom prst="roundRect">
            <a:avLst>
              <a:gd name="adj" fmla="val 6897"/>
            </a:avLst>
          </a:prstGeom>
          <a:solidFill>
            <a:srgbClr val="FFF2E4"/>
          </a:solidFill>
          <a:ln w="12700">
            <a:solidFill>
              <a:srgbClr val="F1CFB8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227832"/>
            <a:ext cx="1005840" cy="384048"/>
          </a:xfrm>
          <a:prstGeom prst="roundRect">
            <a:avLst>
              <a:gd name="adj" fmla="val 23810"/>
            </a:avLst>
          </a:prstGeom>
          <a:solidFill>
            <a:srgbClr val="FFE1CA"/>
          </a:solidFill>
          <a:ln w="12700">
            <a:solidFill>
              <a:srgbClr val="F3B07F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3147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Medium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YouTube 標題優化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17720" y="3054096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從「學做菜的心得分享」改成高點擊標題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350215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學會數字、讀者利益、縮圖構圖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10698480" cy="1060704"/>
          </a:xfrm>
          <a:prstGeom prst="roundRect">
            <a:avLst>
              <a:gd name="adj" fmla="val 6897"/>
            </a:avLst>
          </a:prstGeom>
          <a:solidFill>
            <a:srgbClr val="FFF8E8"/>
          </a:solidFill>
          <a:ln w="12700">
            <a:solidFill>
              <a:srgbClr val="F1CFB8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645152"/>
            <a:ext cx="1005840" cy="384048"/>
          </a:xfrm>
          <a:prstGeom prst="roundRect">
            <a:avLst>
              <a:gd name="adj" fmla="val 23810"/>
            </a:avLst>
          </a:prstGeom>
          <a:solidFill>
            <a:srgbClr val="FFEFD2"/>
          </a:solidFill>
          <a:ln w="12700">
            <a:solidFill>
              <a:srgbClr val="F3B07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73202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C7A4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31720" y="4480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建立個人品牌聲音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617720" y="4471416"/>
            <a:ext cx="6309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職場心理健康帳號：分析 3 篇範本、建立 Guide、規劃 7 天主題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491947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學會風格鎖定法與內容行事曆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614476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建議教法：每題都要求學生先寫 Prompt，再比較「普通輸入」與「結構化輸入」的差異。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九、課後作品與延伸應用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讓學生帶走可展示、可使用、可持續優化的成果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051560" cy="0"/>
          </a:xfrm>
          <a:prstGeom prst="line">
            <a:avLst/>
          </a:prstGeom>
          <a:noFill/>
          <a:ln w="27940">
            <a:solidFill>
              <a:srgbClr val="E86F3A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a_warm_pastel_digital_illustration_infographic_s_batch_3.png">    </p:cNvPr>
          <p:cNvPicPr>
            <a:picLocks noChangeAspect="1"/>
          </p:cNvPicPr>
          <p:nvPr/>
        </p:nvPicPr>
        <p:blipFill>
          <a:blip r:embed="rId1"/>
          <a:srcRect l="2000" r="45392" t="2000" b="4000"/>
          <a:stretch/>
        </p:blipFill>
        <p:spPr>
          <a:xfrm>
            <a:off x="731520" y="1325880"/>
            <a:ext cx="4892040" cy="4919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1481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學生完成品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190488" y="2043684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9088" y="1965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 Custom GPT</a:t>
            </a:r>
            <a:endParaRPr lang="en-US" sz="1620" dirty="0"/>
          </a:p>
        </p:txBody>
      </p:sp>
      <p:sp>
        <p:nvSpPr>
          <p:cNvPr id="9" name="Shape 6"/>
          <p:cNvSpPr/>
          <p:nvPr/>
        </p:nvSpPr>
        <p:spPr>
          <a:xfrm>
            <a:off x="6190488" y="2436876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9088" y="2359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一份 Brand Voice Guide</a:t>
            </a:r>
            <a:endParaRPr lang="en-US" sz="1620" dirty="0"/>
          </a:p>
        </p:txBody>
      </p:sp>
      <p:sp>
        <p:nvSpPr>
          <p:cNvPr id="11" name="Shape 8"/>
          <p:cNvSpPr/>
          <p:nvPr/>
        </p:nvSpPr>
        <p:spPr>
          <a:xfrm>
            <a:off x="6190488" y="2830068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2752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篇 IG 文案</a:t>
            </a:r>
            <a:endParaRPr lang="en-US" sz="1620" dirty="0"/>
          </a:p>
        </p:txBody>
      </p:sp>
      <p:sp>
        <p:nvSpPr>
          <p:cNvPr id="13" name="Shape 10"/>
          <p:cNvSpPr/>
          <p:nvPr/>
        </p:nvSpPr>
        <p:spPr>
          <a:xfrm>
            <a:off x="6190488" y="3223260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9088" y="31455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個 YouTube 標題</a:t>
            </a:r>
            <a:endParaRPr lang="en-US" sz="1620" dirty="0"/>
          </a:p>
        </p:txBody>
      </p:sp>
      <p:sp>
        <p:nvSpPr>
          <p:cNvPr id="15" name="Shape 12"/>
          <p:cNvSpPr/>
          <p:nvPr/>
        </p:nvSpPr>
        <p:spPr>
          <a:xfrm>
            <a:off x="6190488" y="3616452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3538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 個 Hook 與 5 個 CTA</a:t>
            </a:r>
            <a:endParaRPr lang="en-US" sz="1620" dirty="0"/>
          </a:p>
        </p:txBody>
      </p:sp>
      <p:sp>
        <p:nvSpPr>
          <p:cNvPr id="17" name="Shape 14"/>
          <p:cNvSpPr/>
          <p:nvPr/>
        </p:nvSpPr>
        <p:spPr>
          <a:xfrm>
            <a:off x="6190488" y="4009644"/>
            <a:ext cx="109728" cy="109728"/>
          </a:xfrm>
          <a:prstGeom prst="ellipse">
            <a:avLst/>
          </a:prstGeom>
          <a:solidFill>
            <a:srgbClr val="E86F3A"/>
          </a:solidFill>
          <a:ln w="12700">
            <a:solidFill>
              <a:srgbClr val="E86F3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 天內容行事曆</a:t>
            </a:r>
            <a:endParaRPr lang="en-US" sz="1620" dirty="0"/>
          </a:p>
        </p:txBody>
      </p:sp>
      <p:sp>
        <p:nvSpPr>
          <p:cNvPr id="19" name="Shape 16"/>
          <p:cNvSpPr/>
          <p:nvPr/>
        </p:nvSpPr>
        <p:spPr>
          <a:xfrm>
            <a:off x="6080760" y="4800600"/>
            <a:ext cx="5230368" cy="896112"/>
          </a:xfrm>
          <a:prstGeom prst="roundRect">
            <a:avLst>
              <a:gd name="adj" fmla="val 12245"/>
            </a:avLst>
          </a:prstGeom>
          <a:solidFill>
            <a:srgbClr val="FFF4E7"/>
          </a:solidFill>
          <a:ln w="12700">
            <a:solidFill>
              <a:srgbClr val="F2D2B8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5010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F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可銜接高階課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73568" y="5010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B3D2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OpenAI API、自動排程、n8n、Google Sheet、內容管理系統、Java + Spring Boot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6172200" y="59984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1B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核心結論：先建立風格，AI 才能真正替你創作。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 課程｜社群媒體與內容創作輔助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6D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社群媒體與內容創作輔助 Agent</dc:title>
  <dc:subject>社群媒體與內容創作輔助 Agent 課綱簡報</dc:subject>
  <dc:creator>OpenAI</dc:creator>
  <cp:lastModifiedBy>OpenAI</cp:lastModifiedBy>
  <cp:revision>1</cp:revision>
  <dcterms:created xsi:type="dcterms:W3CDTF">2026-06-14T04:31:04Z</dcterms:created>
  <dcterms:modified xsi:type="dcterms:W3CDTF">2026-06-14T04:31:04Z</dcterms:modified>
</cp:coreProperties>
</file>