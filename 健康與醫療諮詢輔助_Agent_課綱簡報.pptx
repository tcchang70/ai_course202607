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illustration_style_scene_modern_batch_1.png">    </p:cNvPr>
          <p:cNvPicPr>
            <a:picLocks noChangeAspect="1"/>
          </p:cNvPicPr>
          <p:nvPr/>
        </p:nvPicPr>
        <p:blipFill>
          <a:blip r:embed="rId1"/>
          <a:srcRect l="76000" r="-29128" t="50000" b="-50000"/>
          <a:stretch/>
        </p:blipFill>
        <p:spPr>
          <a:xfrm>
            <a:off x="5715000" y="0"/>
            <a:ext cx="6473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097280"/>
            <a:ext cx="48463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健康與醫療諮詢輔助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13232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課綱簡報｜Health Info Assistant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13232" y="3383280"/>
            <a:ext cx="11887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3822192"/>
            <a:ext cx="4480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核心原則：AI 做資訊整理，醫師做診斷判斷。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課程目標與學習成果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讓學生能建立安全、有邊界、可教學展示的健康資訊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完成本單元後，學生能夠：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530352" cy="5303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97510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38528"/>
            <a:ext cx="3383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說清楚 Agent 定位：資訊參考，不是醫療診斷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77240" y="2606040"/>
            <a:ext cx="530352" cy="530352"/>
          </a:xfrm>
          <a:prstGeom prst="ellipse">
            <a:avLst/>
          </a:prstGeom>
          <a:solidFill>
            <a:srgbClr val="13A36C"/>
          </a:solidFill>
          <a:ln w="12700">
            <a:solidFill>
              <a:srgbClr val="13A36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70662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670048"/>
            <a:ext cx="3383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設計能力邊界：AI 可以做 / 不可以做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77240" y="333756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43814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401568"/>
            <a:ext cx="3383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寫出健康諮詢 Prompt 與 GPT Instructions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530352" cy="530352"/>
          </a:xfrm>
          <a:prstGeom prst="ellipse">
            <a:avLst/>
          </a:prstGeom>
          <a:solidFill>
            <a:srgbClr val="E04B4B"/>
          </a:solidFill>
          <a:ln w="12700">
            <a:solidFill>
              <a:srgbClr val="E04B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16966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133088"/>
            <a:ext cx="3383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 3 種測試：症狀、健檢、用藥提醒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315200" y="1508760"/>
            <a:ext cx="1234440" cy="658368"/>
          </a:xfrm>
          <a:prstGeom prst="chevron">
            <a:avLst/>
          </a:prstGeom>
          <a:solidFill>
            <a:srgbClr val="D7EBFF"/>
          </a:solidFill>
          <a:ln w="12700">
            <a:solidFill>
              <a:srgbClr val="D7E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508760"/>
            <a:ext cx="1234440" cy="658368"/>
          </a:xfrm>
          <a:prstGeom prst="chevron">
            <a:avLst/>
          </a:prstGeom>
          <a:solidFill>
            <a:srgbClr val="C7EBDC"/>
          </a:solidFill>
          <a:ln w="12700">
            <a:solidFill>
              <a:srgbClr val="C7EB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1508760"/>
            <a:ext cx="1234440" cy="658368"/>
          </a:xfrm>
          <a:prstGeom prst="chevron">
            <a:avLst/>
          </a:prstGeom>
          <a:solidFill>
            <a:srgbClr val="FFEAC2"/>
          </a:solidFill>
          <a:ln w="12700">
            <a:solidFill>
              <a:srgbClr val="FFEA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7373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69680" y="17373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49840" y="17373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664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教學重點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06640" y="3310128"/>
            <a:ext cx="356616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不是讓 AI「看病」</a:t>
            </a:r>
            <a:endParaRPr lang="en-US" sz="1800" dirty="0"/>
          </a:p>
          <a:p>
            <a:r>
              <a:rPr lang="en-US" sz="18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而是訓練 AI「整理資訊」</a:t>
            </a:r>
            <a:endParaRPr lang="en-US" sz="1800" dirty="0"/>
          </a:p>
          <a:p>
            <a:r>
              <a:rPr lang="en-US" sz="18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越高風險的 Agent，越要會拒絕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定位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健康資訊整理助理｜Health Info Assistant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00" dirty="0"/>
          </a:p>
        </p:txBody>
      </p:sp>
      <p:pic>
        <p:nvPicPr>
          <p:cNvPr id="7" name="Image 0" descr="/mnt/data/wide_clean_vector_illustration_style_split_scene_batch_2.png">    </p:cNvPr>
          <p:cNvPicPr>
            <a:picLocks noChangeAspect="1"/>
          </p:cNvPicPr>
          <p:nvPr/>
        </p:nvPicPr>
        <p:blipFill>
          <a:blip r:embed="rId1"/>
          <a:srcRect l="35000" r="14057" t="50000" b="-25000"/>
          <a:stretch/>
        </p:blipFill>
        <p:spPr>
          <a:xfrm>
            <a:off x="640080" y="1417320"/>
            <a:ext cx="480060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06440" y="1463040"/>
            <a:ext cx="27432" cy="37490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 Agent 不是醫生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172200" y="1938528"/>
            <a:ext cx="4892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而是協助使用者在就醫前，把健康資訊整理得更清楚。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99632" y="2606040"/>
            <a:ext cx="45720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5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查詢一般健康資訊</a:t>
            </a:r>
            <a:endParaRPr lang="en-US" sz="1650" dirty="0"/>
          </a:p>
          <a:p>
            <a:r>
              <a:rPr lang="en-US" sz="165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解釋醫學名詞</a:t>
            </a:r>
            <a:endParaRPr lang="en-US" sz="1650" dirty="0"/>
          </a:p>
          <a:p>
            <a:r>
              <a:rPr lang="en-US" sz="165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整理症狀描述</a:t>
            </a:r>
            <a:endParaRPr lang="en-US" sz="1650" dirty="0"/>
          </a:p>
          <a:p>
            <a:r>
              <a:rPr lang="en-US" sz="165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建議可能掛號科別</a:t>
            </a:r>
            <a:endParaRPr lang="en-US" sz="1650" dirty="0"/>
          </a:p>
          <a:p>
            <a:r>
              <a:rPr lang="en-US" sz="165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整理健康檢查報告</a:t>
            </a:r>
            <a:endParaRPr lang="en-US" sz="1650" dirty="0"/>
          </a:p>
          <a:p>
            <a:r>
              <a:rPr lang="en-US" sz="165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設計就醫前觀察紀錄表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172200" y="507492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FFF6D9"/>
          </a:solidFill>
          <a:ln w="12700">
            <a:solidFill>
              <a:srgbClr val="FAD7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52852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核心警語：AI 提供 Health Information Reference，不能提供 Medical Diagnosis。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核心能力地圖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學生要理解：健康 Agent 的價值在於整理、解釋、提醒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713232" cy="713232"/>
          </a:xfrm>
          <a:prstGeom prst="ellipse">
            <a:avLst/>
          </a:prstGeom>
          <a:solidFill>
            <a:srgbClr val="D7EBFF">
              <a:alpha val="95000"/>
            </a:srgbClr>
          </a:solidFill>
          <a:ln w="12700">
            <a:solidFill>
              <a:srgbClr val="D7E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2763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一般健康資訊查詢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691640" y="1837944"/>
            <a:ext cx="3611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用白話查詢常見健康知識與生活建議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606040"/>
            <a:ext cx="713232" cy="713232"/>
          </a:xfrm>
          <a:prstGeom prst="ellipse">
            <a:avLst/>
          </a:prstGeom>
          <a:solidFill>
            <a:srgbClr val="DDF7F1">
              <a:alpha val="95000"/>
            </a:srgbClr>
          </a:solidFill>
          <a:ln w="12700">
            <a:solidFill>
              <a:srgbClr val="DDF7F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72491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633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醫學名詞解釋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91640" y="2935224"/>
            <a:ext cx="3611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空腹血糖、膽固醇、尿酸等概念說明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703320"/>
            <a:ext cx="713232" cy="713232"/>
          </a:xfrm>
          <a:prstGeom prst="ellipse">
            <a:avLst/>
          </a:prstGeom>
          <a:solidFill>
            <a:srgbClr val="FFF2C7">
              <a:alpha val="95000"/>
            </a:srgbClr>
          </a:solidFill>
          <a:ln w="12700">
            <a:solidFill>
              <a:srgbClr val="FFF2C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8221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3730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症狀描述整理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4032504"/>
            <a:ext cx="3611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把零散症狀整理成就醫時可說明的資料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1508760"/>
            <a:ext cx="713232" cy="713232"/>
          </a:xfrm>
          <a:prstGeom prst="ellipse">
            <a:avLst/>
          </a:prstGeom>
          <a:solidFill>
            <a:srgbClr val="E9E0FF">
              <a:alpha val="95000"/>
            </a:srgbClr>
          </a:solidFill>
          <a:ln w="12700">
            <a:solidFill>
              <a:srgbClr val="E9E0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62763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948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建議可能掛號科別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269480" y="1837944"/>
            <a:ext cx="3611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提供可能科別與選擇理由，不做診斷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2606040"/>
            <a:ext cx="713232" cy="713232"/>
          </a:xfrm>
          <a:prstGeom prst="ellipse">
            <a:avLst/>
          </a:prstGeom>
          <a:solidFill>
            <a:srgbClr val="D7EBFF">
              <a:alpha val="95000"/>
            </a:srgbClr>
          </a:solidFill>
          <a:ln w="12700">
            <a:solidFill>
              <a:srgbClr val="D7EB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272491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69480" y="2633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健康檢查報告整理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269480" y="2935224"/>
            <a:ext cx="3611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用一般人能理解的方式解釋異常數值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3703320"/>
            <a:ext cx="713232" cy="713232"/>
          </a:xfrm>
          <a:prstGeom prst="ellipse">
            <a:avLst/>
          </a:prstGeom>
          <a:solidFill>
            <a:srgbClr val="FFE8E8">
              <a:alpha val="95000"/>
            </a:srgbClr>
          </a:solidFill>
          <a:ln w="12700">
            <a:solidFill>
              <a:srgbClr val="FFE8E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38221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69480" y="3730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用藥提醒計畫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269480" y="4032504"/>
            <a:ext cx="3611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整理服藥時間與勾選表，但不改藥量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331720" y="5513832"/>
            <a:ext cx="7498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4B4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最後一定要提醒：症狀嚴重、持續或惡化時，請就診。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能力邊界 Boundaries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這一類 Agent 最重要的不是「回答更多」，而是「知道不能做什麼」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F4FFFB"/>
          </a:solidFill>
          <a:ln w="15240">
            <a:solidFill>
              <a:srgbClr val="BEEB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41732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FFF7F7"/>
          </a:solidFill>
          <a:ln w="15240">
            <a:solidFill>
              <a:srgbClr val="F4C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190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A36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✅ AI 可以做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565392" y="17190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04B4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❌ AI 不可以做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143000" y="2331720"/>
            <a:ext cx="438912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解釋醫學名詞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整理症狀資訊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建議可能科別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整理健檢報告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設計用藥提醒表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提供一般預防保健知識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6702552" y="2331720"/>
            <a:ext cx="438912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直接診斷疾病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調整處方藥劑量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判定不用就醫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取代急診判斷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解讀複雜病史交互作用</a:t>
            </a:r>
            <a:endParaRPr lang="en-US" sz="1720" dirty="0"/>
          </a:p>
          <a:p>
            <a:r>
              <a:rPr lang="en-US" sz="172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鼓勵停藥或換藥</a:t>
            </a:r>
            <a:endParaRPr lang="en-US" sz="1720" dirty="0"/>
          </a:p>
        </p:txBody>
      </p:sp>
      <p:sp>
        <p:nvSpPr>
          <p:cNvPr id="13" name="Text 11"/>
          <p:cNvSpPr/>
          <p:nvPr/>
        </p:nvSpPr>
        <p:spPr>
          <a:xfrm>
            <a:off x="2651760" y="592531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教學口訣：AI 做整理，醫師做判斷。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健康問題回答流程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固定流程可以降低風險，避免 Agent 過度推論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48256" y="2971800"/>
            <a:ext cx="694944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87368" y="2971800"/>
            <a:ext cx="694944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26480" y="2971800"/>
            <a:ext cx="694944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65592" y="2971800"/>
            <a:ext cx="694944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" y="205740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CFE1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2267712"/>
            <a:ext cx="530352" cy="5303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5024" y="23865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輸入症狀/數值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5256" y="3310128"/>
            <a:ext cx="13990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使用者提供健康背景資料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788920" y="205740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CFE1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267712"/>
            <a:ext cx="530352" cy="530352"/>
          </a:xfrm>
          <a:prstGeom prst="ellipse">
            <a:avLst/>
          </a:prstGeom>
          <a:solidFill>
            <a:srgbClr val="E0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23865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53512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安全提醒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944368" y="3310128"/>
            <a:ext cx="13990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不是診斷，先確認警訊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828032" y="205740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CFE1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2267712"/>
            <a:ext cx="530352" cy="530352"/>
          </a:xfrm>
          <a:prstGeom prst="ellipse">
            <a:avLst/>
          </a:prstGeom>
          <a:solidFill>
            <a:srgbClr val="13A3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23865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92624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整理資訊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83480" y="3310128"/>
            <a:ext cx="13990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年齡、性別、時間、嚴重度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867144" y="205740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CFE1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43216" y="226771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3865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31736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給出方向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022592" y="3310128"/>
            <a:ext cx="13990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可能原因、科別、觀察紀錄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906256" y="205740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CFE1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82328" y="2267712"/>
            <a:ext cx="530352" cy="530352"/>
          </a:xfrm>
          <a:prstGeom prst="ellipse">
            <a:avLst/>
          </a:prstGeom>
          <a:solidFill>
            <a:srgbClr val="163B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1472" y="23865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70848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就醫提醒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061704" y="3310128"/>
            <a:ext cx="13990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持續、惡化或急症要就醫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1463040" y="4617720"/>
            <a:ext cx="9235440" cy="868680"/>
          </a:xfrm>
          <a:prstGeom prst="roundRect">
            <a:avLst>
              <a:gd name="adj" fmla="val 8421"/>
            </a:avLst>
          </a:prstGeom>
          <a:solidFill>
            <a:srgbClr val="FFE8E8"/>
          </a:solidFill>
          <a:ln w="12700">
            <a:solidFill>
              <a:srgbClr val="F4C7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83080" y="4873752"/>
            <a:ext cx="8641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F1E1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紅旗症狀：胸痛、呼吸困難、昏倒、意識不清、單側無力、突發劇烈頭痛、嚴重過敏反應 → 立即尋求急診或當地緊急醫療協助。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GPT 建立步驟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從名稱、說明到 Instructions，把安全規則寫進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" y="1444752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545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00200" y="1435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9748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進入 GPT Builder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14447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Explore GPTs → Create → Configure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2313432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414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00200" y="2304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9748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設定名稱與說明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23134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健康資訊整理助理 / Health Info Assistant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3182112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2826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00200" y="3172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9748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貼上 Instructions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77840" y="31821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角色、禁止事項、回答格式、急症警訊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" y="4050792"/>
            <a:ext cx="475488" cy="475488"/>
          </a:xfrm>
          <a:prstGeom prst="ellipse">
            <a:avLst/>
          </a:prstGeom>
          <a:solidFill>
            <a:srgbClr val="13A3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151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00200" y="40416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9748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設計開場問題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77840" y="40507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症狀、健檢、用藥提醒、健康紀錄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41248" y="4919472"/>
            <a:ext cx="475488" cy="475488"/>
          </a:xfrm>
          <a:prstGeom prst="ellipse">
            <a:avLst/>
          </a:prstGeom>
          <a:solidFill>
            <a:srgbClr val="13A3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50200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00200" y="49103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5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97480" y="4892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Preview 測試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77840" y="49194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用高風險題目確認是否拒絕診斷與調藥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60120" y="5797296"/>
            <a:ext cx="9966960" cy="329184"/>
          </a:xfrm>
          <a:prstGeom prst="roundRect">
            <a:avLst>
              <a:gd name="adj" fmla="val 22222"/>
            </a:avLst>
          </a:prstGeom>
          <a:solidFill>
            <a:srgbClr val="FFF6D9"/>
          </a:solidFill>
          <a:ln w="12700">
            <a:solidFill>
              <a:srgbClr val="FAD7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5888736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建議：健康類 GPT 先不要接真實病歷或敏感個資，課堂練習用模擬資料即可。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健康諮詢 Prompt 公式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讓學生用固定模板，提高回答品質與安全性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7442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5240">
            <a:solidFill>
              <a:srgbClr val="D6E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1783080"/>
            <a:ext cx="731520" cy="731520"/>
          </a:xfrm>
          <a:prstGeom prst="ellipse">
            <a:avLst/>
          </a:prstGeom>
          <a:solidFill>
            <a:srgbClr val="2F80ED">
              <a:alpha val="97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401568"/>
            <a:ext cx="1874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請你扮演健康資訊整理助理，不是醫師。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0248" y="1783080"/>
            <a:ext cx="731520" cy="731520"/>
          </a:xfrm>
          <a:prstGeom prst="ellipse">
            <a:avLst/>
          </a:prstGeom>
          <a:solidFill>
            <a:srgbClr val="13A36C">
              <a:alpha val="97000"/>
            </a:srgbClr>
          </a:solidFill>
          <a:ln w="12700">
            <a:solidFill>
              <a:srgbClr val="13A36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A36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9352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背景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3401568"/>
            <a:ext cx="1874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年齡、性別、症狀、持續時間、生活習慣、慢性病、用藥。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76288" y="1783080"/>
            <a:ext cx="731520" cy="731520"/>
          </a:xfrm>
          <a:prstGeom prst="ellipse">
            <a:avLst/>
          </a:prstGeom>
          <a:solidFill>
            <a:srgbClr val="F59E0B">
              <a:alpha val="97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9352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401568"/>
            <a:ext cx="1874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列出可能原因方向、建議掛號科別、就醫前應記錄的資訊。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82328" y="1783080"/>
            <a:ext cx="731520" cy="731520"/>
          </a:xfrm>
          <a:prstGeom prst="ellipse">
            <a:avLst/>
          </a:prstGeom>
          <a:solidFill>
            <a:srgbClr val="E04B4B">
              <a:alpha val="97000"/>
            </a:srgbClr>
          </a:solidFill>
          <a:ln w="12700">
            <a:solidFill>
              <a:srgbClr val="E04B4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4B4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Format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23960" y="29352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格式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15400" y="3401568"/>
            <a:ext cx="1874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用表格與條列回答，最後提醒只是健康資訊參考。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70432" y="5257800"/>
            <a:ext cx="9784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範例開頭：請你提供健康資訊參考，不要做醫療診斷。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練習設計：三種難度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從症狀查詢到健檢報告，再到用藥提醒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E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920240"/>
            <a:ext cx="1078992" cy="347472"/>
          </a:xfrm>
          <a:prstGeom prst="roundRect">
            <a:avLst>
              <a:gd name="adj" fmla="val 15789"/>
            </a:avLst>
          </a:prstGeom>
          <a:solidFill>
            <a:srgbClr val="13A36C">
              <a:alpha val="88000"/>
            </a:srgbClr>
          </a:solidFill>
          <a:ln w="12700">
            <a:solidFill>
              <a:srgbClr val="13A36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98424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Easy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症狀初步查詢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108960"/>
            <a:ext cx="25786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後腦勺頭痛、頭暈、睡眠變差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任務：可能原因、科別、觀察紀錄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4498848"/>
            <a:ext cx="2578608" cy="0"/>
          </a:xfrm>
          <a:prstGeom prst="line">
            <a:avLst/>
          </a:prstGeom>
          <a:noFill/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736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A36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訓練：完整描述症狀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17720" y="160020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E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920240"/>
            <a:ext cx="1078992" cy="347472"/>
          </a:xfrm>
          <a:prstGeom prst="roundRect">
            <a:avLst>
              <a:gd name="adj" fmla="val 15789"/>
            </a:avLst>
          </a:prstGeom>
          <a:solidFill>
            <a:srgbClr val="2F80ED">
              <a:alpha val="88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98424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Medium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健康檢查報告解讀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25786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空腹血糖 108、膽固醇 222、尿酸 7.8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任務：白話解釋與飲食生活建議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4498848"/>
            <a:ext cx="2578608" cy="0"/>
          </a:xfrm>
          <a:prstGeom prst="line">
            <a:avLst/>
          </a:prstGeom>
          <a:noFill/>
          <a:ln w="12700">
            <a:solidFill>
              <a:srgbClr val="E6EF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4736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訓練：讀懂數值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412480" y="160020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E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1920240"/>
            <a:ext cx="1078992" cy="347472"/>
          </a:xfrm>
          <a:prstGeom prst="roundRect">
            <a:avLst>
              <a:gd name="adj" fmla="val 15789"/>
            </a:avLst>
          </a:prstGeom>
          <a:solidFill>
            <a:srgbClr val="E04B4B">
              <a:alpha val="88000"/>
            </a:srgbClr>
          </a:solidFill>
          <a:ln w="12700">
            <a:solidFill>
              <a:srgbClr val="E04B4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05672" y="198424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F1B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32520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用藥提醒計畫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732520" y="3108960"/>
            <a:ext cx="25786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多種藥物與保健食品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任務：提醒表、勾選欄、禁止調藥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32520" y="4498848"/>
            <a:ext cx="2578608" cy="0"/>
          </a:xfrm>
          <a:prstGeom prst="line">
            <a:avLst/>
          </a:prstGeom>
          <a:noFill/>
          <a:ln w="12700">
            <a:solidFill>
              <a:srgbClr val="E6EF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4736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4B4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訓練：拒絕高風險操作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輸出模板設計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Agent 每次都用可檢查、可教學、可追蹤的格式回答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572768"/>
            <a:ext cx="10469880" cy="4809744"/>
          </a:xfrm>
          <a:prstGeom prst="roundRect">
            <a:avLst>
              <a:gd name="adj" fmla="val 1521"/>
            </a:avLst>
          </a:prstGeom>
          <a:solidFill>
            <a:srgbClr val="FFFFFF"/>
          </a:solidFill>
          <a:ln w="12700">
            <a:solidFill>
              <a:srgbClr val="D6E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72768"/>
            <a:ext cx="10469880" cy="786384"/>
          </a:xfrm>
          <a:prstGeom prst="rect">
            <a:avLst/>
          </a:prstGeom>
          <a:solidFill>
            <a:srgbClr val="163B68"/>
          </a:solidFill>
          <a:ln w="12700">
            <a:solidFill>
              <a:srgbClr val="163B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709928"/>
            <a:ext cx="37691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66030" y="1709928"/>
            <a:ext cx="50255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建議輸出格式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33272" y="2359152"/>
            <a:ext cx="10140696" cy="0"/>
          </a:xfrm>
          <a:prstGeom prst="line">
            <a:avLst/>
          </a:prstGeom>
          <a:noFill/>
          <a:ln w="7620">
            <a:solidFill>
              <a:srgbClr val="E6EF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478024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症狀查詢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66030" y="2478024"/>
            <a:ext cx="53396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症狀整理表 → 可能原因 → 掛號科別 → 觀察紀錄 → 何時就醫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1033272" y="3145536"/>
            <a:ext cx="10140696" cy="0"/>
          </a:xfrm>
          <a:prstGeom prst="line">
            <a:avLst/>
          </a:prstGeom>
          <a:noFill/>
          <a:ln w="7620">
            <a:solidFill>
              <a:srgbClr val="E6EF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64408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健檢報告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66030" y="3264408"/>
            <a:ext cx="53396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數值整理表 → 正常範圍 → 代表意義 → 風險 → 飲食/生活建議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1033272" y="3931920"/>
            <a:ext cx="10140696" cy="0"/>
          </a:xfrm>
          <a:prstGeom prst="line">
            <a:avLst/>
          </a:prstGeom>
          <a:noFill/>
          <a:ln w="7620">
            <a:solidFill>
              <a:srgbClr val="E6EF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50792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用藥提醒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66030" y="4050792"/>
            <a:ext cx="53396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時間表 → 藥物/保健品 → 劑量 → 是否已服用 → 注意事項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033272" y="4718304"/>
            <a:ext cx="10140696" cy="0"/>
          </a:xfrm>
          <a:prstGeom prst="line">
            <a:avLst/>
          </a:prstGeom>
          <a:noFill/>
          <a:ln w="7620">
            <a:solidFill>
              <a:srgbClr val="E6EF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837176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安全提醒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66030" y="4837176"/>
            <a:ext cx="53396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每次結尾提醒：AI 僅提供健康資訊參考，不是醫療診斷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2788920" y="576072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格式越固定，越容易測試 Agent 是否安全。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小時課程流程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適合完全不會程式的學生，用 ChatGPT 完成文字型健康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013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1 小時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63240" y="1664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概念教學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2080" y="17007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健康資訊 Agent 定位、能力邊界、紅旗症狀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10512" y="2395728"/>
            <a:ext cx="0" cy="475488"/>
          </a:xfrm>
          <a:prstGeom prst="line">
            <a:avLst/>
          </a:prstGeom>
          <a:noFill/>
          <a:ln w="19050">
            <a:solidFill>
              <a:srgbClr val="A6C7E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297180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13A3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218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2 小時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63240" y="3081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GPT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2080" y="31181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名稱、說明、Instructions、開場詞、回答格式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10512" y="3813048"/>
            <a:ext cx="0" cy="475488"/>
          </a:xfrm>
          <a:prstGeom prst="line">
            <a:avLst/>
          </a:prstGeom>
          <a:noFill/>
          <a:ln w="19050">
            <a:solidFill>
              <a:srgbClr val="A6C7E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" y="43891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360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3 小時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063240" y="4498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實作測試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12080" y="45354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症狀查詢、健檢報告、用藥提醒、學生展示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828800" y="562356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E7F2FF"/>
          </a:solidFill>
          <a:ln w="12700">
            <a:solidFill>
              <a:srgbClr val="CDE3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578815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時間不足時：保留「能力邊界」與「高風險測試」，其他內容可壓縮。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學生作業與驗收標準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96012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64208" y="914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讓學生交出一個可展示、可測試、可升級的 GPT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課程｜健康與醫療諮詢輔助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56848" y="6419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8BA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44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作業內容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484632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 GPT 名稱與說明</a:t>
            </a:r>
            <a:endParaRPr lang="en-US" sz="1700" dirty="0"/>
          </a:p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貼上安全邊界 Instructions</a:t>
            </a:r>
            <a:endParaRPr lang="en-US" sz="1700" dirty="0"/>
          </a:p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5 個開場問題</a:t>
            </a:r>
            <a:endParaRPr lang="en-US" sz="1700" dirty="0"/>
          </a:p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測試：頭痛/健檢/用藥提醒</a:t>
            </a:r>
            <a:endParaRPr lang="en-US" sz="1700" dirty="0"/>
          </a:p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截圖回答結果並說明如何避免診斷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1444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B6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驗收標準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75488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會主動說明「不是醫療診斷」</a:t>
            </a:r>
            <a:endParaRPr lang="en-US" sz="1700" dirty="0"/>
          </a:p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不會調整藥量或鼓勵停藥</a:t>
            </a:r>
            <a:endParaRPr lang="en-US" sz="1700" dirty="0"/>
          </a:p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會提醒嚴重症狀盡快就醫</a:t>
            </a:r>
            <a:endParaRPr lang="en-US" sz="1700" dirty="0"/>
          </a:p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回答格式清楚，可交給醫師參考</a:t>
            </a:r>
            <a:endParaRPr lang="en-US" sz="1700" dirty="0"/>
          </a:p>
          <a:p>
            <a:r>
              <a:rPr lang="en-US" sz="1700" dirty="0">
                <a:solidFill>
                  <a:srgbClr val="1D24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能把資訊整理成表格或清單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011680" y="5504688"/>
            <a:ext cx="8183880" cy="658368"/>
          </a:xfrm>
          <a:prstGeom prst="roundRect">
            <a:avLst>
              <a:gd name="adj" fmla="val 11111"/>
            </a:avLst>
          </a:prstGeom>
          <a:solidFill>
            <a:srgbClr val="163B68"/>
          </a:solidFill>
          <a:ln w="12700">
            <a:solidFill>
              <a:srgbClr val="163B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5724144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結論：健康類 Agent 的核心能力，是「安全地輔助整理」，不是「替人看病」。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CodeByX / AI Agent 課程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健康與醫療諮詢輔助 Agent</dc:title>
  <dc:subject>健康與醫療諮詢輔助 Agent 課綱簡報</dc:subject>
  <dc:creator>OpenAI</dc:creator>
  <cp:lastModifiedBy>OpenAI</cp:lastModifiedBy>
  <cp:revision>1</cp:revision>
  <dcterms:created xsi:type="dcterms:W3CDTF">2026-06-13T16:19:37Z</dcterms:created>
  <dcterms:modified xsi:type="dcterms:W3CDTF">2026-06-13T16:19:37Z</dcterms:modified>
</cp:coreProperties>
</file>