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43000"/>
            <a:ext cx="3291840" cy="2423160"/>
          </a:xfrm>
          <a:prstGeom prst="ellipse">
            <a:avLst/>
          </a:prstGeom>
          <a:solidFill>
            <a:srgbClr val="FBD7B5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383280" cy="2057400"/>
          </a:xfrm>
          <a:prstGeom prst="ellipse">
            <a:avLst/>
          </a:prstGeom>
          <a:solidFill>
            <a:srgbClr val="F7E0B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440680"/>
            <a:ext cx="2926080" cy="2194560"/>
          </a:xfrm>
          <a:prstGeom prst="ellipse">
            <a:avLst/>
          </a:prstGeom>
          <a:solidFill>
            <a:srgbClr val="FFF0C9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5532120"/>
            <a:ext cx="2468880" cy="1737360"/>
          </a:xfrm>
          <a:prstGeom prst="ellipse">
            <a:avLst/>
          </a:prstGeom>
          <a:solidFill>
            <a:srgbClr val="FFE9D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2608"/>
            <a:ext cx="914400" cy="0"/>
          </a:xfrm>
          <a:prstGeom prst="line">
            <a:avLst/>
          </a:prstGeom>
          <a:noFill/>
          <a:ln w="10160">
            <a:solidFill>
              <a:srgbClr val="E7B75B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6400800"/>
            <a:ext cx="822960" cy="0"/>
          </a:xfrm>
          <a:prstGeom prst="line">
            <a:avLst/>
          </a:prstGeom>
          <a:noFill/>
          <a:ln w="10160">
            <a:solidFill>
              <a:srgbClr val="E7B75B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468880"/>
            <a:ext cx="1828800" cy="1828800"/>
          </a:xfrm>
          <a:prstGeom prst="arc">
            <a:avLst/>
          </a:prstGeom>
          <a:noFill/>
          <a:ln w="25400">
            <a:solidFill>
              <a:srgbClr val="D79A3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3310128"/>
            <a:ext cx="1078992" cy="1097280"/>
          </a:xfrm>
          <a:prstGeom prst="roundRect">
            <a:avLst>
              <a:gd name="adj" fmla="val 6780"/>
            </a:avLst>
          </a:prstGeom>
          <a:solidFill>
            <a:srgbClr val="FFFDF8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49300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🍿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536192" y="3044952"/>
            <a:ext cx="1143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83080" y="3218688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🎬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9829800" y="3127248"/>
            <a:ext cx="1600200" cy="1024128"/>
          </a:xfrm>
          <a:prstGeom prst="roundRect">
            <a:avLst>
              <a:gd name="adj" fmla="val 7143"/>
            </a:avLst>
          </a:prstGeom>
          <a:solidFill>
            <a:srgbClr val="FFFDF8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0" y="338328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🎧  📚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5623560" y="219456"/>
            <a:ext cx="822960" cy="8229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3DEC1"/>
            </a:solidFill>
            <a:prstDash val="solid"/>
          </a:ln>
          <a:effectLst>
            <a:outerShdw sx="100000" sy="100000" kx="0" ky="0" algn="bl" rotWithShape="0" blurRad="12700" dist="50800" dir="2700000">
              <a:srgbClr val="D9A55F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69864" y="347472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7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1216152"/>
            <a:ext cx="8549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娛樂口味推薦助理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4343400" y="203911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作者：江聖榮  ♙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5072" y="2221992"/>
            <a:ext cx="502920" cy="0"/>
          </a:xfrm>
          <a:prstGeom prst="line">
            <a:avLst/>
          </a:prstGeom>
          <a:noFill/>
          <a:ln w="12700">
            <a:solidFill>
              <a:srgbClr val="E7B7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71816" y="2221992"/>
            <a:ext cx="502920" cy="0"/>
          </a:xfrm>
          <a:prstGeom prst="line">
            <a:avLst/>
          </a:prstGeom>
          <a:noFill/>
          <a:ln w="12700">
            <a:solidFill>
              <a:srgbClr val="E7B7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2670048"/>
            <a:ext cx="7909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4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這是一個個人化娛樂內容推薦 GPT，能根據使用者喜歡的作品、喜歡原因、不喜歡元素與當下情境，推薦電影、影集、動漫、音樂、書籍與遊戲。</a:t>
            </a:r>
            <a:endParaRPr lang="en-US" sz="1640" dirty="0"/>
          </a:p>
          <a:p>
            <a:pPr algn="ctr" indent="0" marL="0">
              <a:buNone/>
            </a:pPr>
            <a:r>
              <a:rPr lang="en-US" sz="164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它不只推薦熱門排行榜，而是建立使用者的偏好檔案，並說明每個推薦項目為什麼適合。</a:t>
            </a:r>
            <a:endParaRPr lang="en-US" sz="1640" dirty="0"/>
          </a:p>
        </p:txBody>
      </p:sp>
      <p:sp>
        <p:nvSpPr>
          <p:cNvPr id="22" name="Shape 20"/>
          <p:cNvSpPr/>
          <p:nvPr/>
        </p:nvSpPr>
        <p:spPr>
          <a:xfrm>
            <a:off x="768096" y="4718304"/>
            <a:ext cx="2304288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77824" y="4718304"/>
            <a:ext cx="658368" cy="429768"/>
          </a:xfrm>
          <a:prstGeom prst="roundRect">
            <a:avLst>
              <a:gd name="adj" fmla="val 12766"/>
            </a:avLst>
          </a:prstGeom>
          <a:solidFill>
            <a:srgbClr val="E7B7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18888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755648" y="4919472"/>
            <a:ext cx="566928" cy="566928"/>
          </a:xfrm>
          <a:prstGeom prst="ellipse">
            <a:avLst/>
          </a:prstGeom>
          <a:solidFill>
            <a:srgbClr val="FFE9D6"/>
          </a:solidFill>
          <a:ln w="7620">
            <a:solidFill>
              <a:srgbClr val="EBCB9E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7088" y="50200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7552" y="550468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我喜歡《寄生上流》，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請用偏好維度法幫我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 5 部類似的電影。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547872" y="4718304"/>
            <a:ext cx="2304288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0" y="4718304"/>
            <a:ext cx="658368" cy="429768"/>
          </a:xfrm>
          <a:prstGeom prst="roundRect">
            <a:avLst>
              <a:gd name="adj" fmla="val 12766"/>
            </a:avLst>
          </a:prstGeom>
          <a:solidFill>
            <a:srgbClr val="E7B7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94176" y="4818888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35424" y="4919472"/>
            <a:ext cx="566928" cy="566928"/>
          </a:xfrm>
          <a:prstGeom prst="ellipse">
            <a:avLst/>
          </a:prstGeom>
          <a:solidFill>
            <a:srgbClr val="FFE9D6"/>
          </a:solidFill>
          <a:ln w="7620">
            <a:solidFill>
              <a:srgbClr val="EBCB9E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50200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☾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767328" y="550468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我下班後想放鬆但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不想睡著，請幫我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 10 首歌的播放清單。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27648" y="4718304"/>
            <a:ext cx="2304288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37376" y="4718304"/>
            <a:ext cx="658368" cy="429768"/>
          </a:xfrm>
          <a:prstGeom prst="roundRect">
            <a:avLst>
              <a:gd name="adj" fmla="val 12766"/>
            </a:avLst>
          </a:prstGeom>
          <a:solidFill>
            <a:srgbClr val="E7B7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4818888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315200" y="4919472"/>
            <a:ext cx="566928" cy="566928"/>
          </a:xfrm>
          <a:prstGeom prst="ellipse">
            <a:avLst/>
          </a:prstGeom>
          <a:solidFill>
            <a:srgbClr val="FFE9D6"/>
          </a:solidFill>
          <a:ln w="7620">
            <a:solidFill>
              <a:srgbClr val="EBCB9E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50200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47104" y="550468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請先問我 5 個問題，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建立我的電影口味檔案，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再推薦 5 部最適合我的電影。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107424" y="4718304"/>
            <a:ext cx="2304288" cy="1490472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217152" y="4718304"/>
            <a:ext cx="658368" cy="429768"/>
          </a:xfrm>
          <a:prstGeom prst="roundRect">
            <a:avLst>
              <a:gd name="adj" fmla="val 12766"/>
            </a:avLst>
          </a:prstGeom>
          <a:solidFill>
            <a:srgbClr val="E7B7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53728" y="4818888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10094976" y="4919472"/>
            <a:ext cx="566928" cy="566928"/>
          </a:xfrm>
          <a:prstGeom prst="ellipse">
            <a:avLst/>
          </a:prstGeom>
          <a:solidFill>
            <a:srgbClr val="FFE9D6"/>
          </a:solidFill>
          <a:ln w="7620">
            <a:solidFill>
              <a:srgbClr val="EBCB9E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86416" y="50200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7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326880" y="550468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我不喜歡節奏太慢、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結局太正能量的作品，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請幫我推薦 5 款遊戲。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43000"/>
            <a:ext cx="3291840" cy="2423160"/>
          </a:xfrm>
          <a:prstGeom prst="ellipse">
            <a:avLst/>
          </a:prstGeom>
          <a:solidFill>
            <a:srgbClr val="FBD7B5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383280" cy="2057400"/>
          </a:xfrm>
          <a:prstGeom prst="ellipse">
            <a:avLst/>
          </a:prstGeom>
          <a:solidFill>
            <a:srgbClr val="F7E0B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440680"/>
            <a:ext cx="2926080" cy="2194560"/>
          </a:xfrm>
          <a:prstGeom prst="ellipse">
            <a:avLst/>
          </a:prstGeom>
          <a:solidFill>
            <a:srgbClr val="FFF0C9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5532120"/>
            <a:ext cx="2468880" cy="1737360"/>
          </a:xfrm>
          <a:prstGeom prst="ellipse">
            <a:avLst/>
          </a:prstGeom>
          <a:solidFill>
            <a:srgbClr val="FFE9D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2608"/>
            <a:ext cx="914400" cy="0"/>
          </a:xfrm>
          <a:prstGeom prst="line">
            <a:avLst/>
          </a:prstGeom>
          <a:noFill/>
          <a:ln w="10160">
            <a:solidFill>
              <a:srgbClr val="E7B75B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6400800"/>
            <a:ext cx="822960" cy="0"/>
          </a:xfrm>
          <a:prstGeom prst="line">
            <a:avLst/>
          </a:prstGeom>
          <a:noFill/>
          <a:ln w="10160">
            <a:solidFill>
              <a:srgbClr val="E7B75B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475488"/>
            <a:ext cx="137160" cy="603504"/>
          </a:xfrm>
          <a:prstGeom prst="roundRect">
            <a:avLst>
              <a:gd name="adj" fmla="val 26667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2062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01｜課程主題與目標成品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50976" y="89611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 ChatGPT 自訂 GPT 畫面為學員的最終作品樣貌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881360" y="475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B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6400800"/>
            <a:ext cx="10835640" cy="0"/>
          </a:xfrm>
          <a:prstGeom prst="line">
            <a:avLst/>
          </a:prstGeom>
          <a:noFill/>
          <a:ln w="8890">
            <a:solidFill>
              <a:srgbClr val="F3DEC1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娛樂口味推薦助理｜TasteMate Agent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91088" y="6492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9808" y="1353312"/>
            <a:ext cx="5669280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pic>
        <p:nvPicPr>
          <p:cNvPr id="16" name="Image 0" descr="/mnt/data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94027"/>
            <a:ext cx="5166360" cy="242539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766560" y="1353312"/>
            <a:ext cx="4663440" cy="4443984"/>
          </a:xfrm>
          <a:prstGeom prst="roundRect">
            <a:avLst>
              <a:gd name="adj" fmla="val 1646"/>
            </a:avLst>
          </a:prstGeom>
          <a:solidFill>
            <a:srgbClr val="FFFDF8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114032" y="170078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學員完成後會擁有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7086600" y="2240280"/>
            <a:ext cx="566928" cy="566928"/>
          </a:xfrm>
          <a:prstGeom prst="ellipse">
            <a:avLst/>
          </a:prstGeom>
          <a:solidFill>
            <a:srgbClr val="FFF0C9"/>
          </a:solidFill>
          <a:ln w="7620">
            <a:solidFill>
              <a:srgbClr val="EBCB9E">
                <a:alpha val="6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78040" y="23408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90688" y="235915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04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一個可對話的娛樂推薦 GPT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7086600" y="2889504"/>
            <a:ext cx="566928" cy="566928"/>
          </a:xfrm>
          <a:prstGeom prst="ellipse">
            <a:avLst/>
          </a:prstGeom>
          <a:solidFill>
            <a:srgbClr val="FFF0C9"/>
          </a:solidFill>
          <a:ln w="7620">
            <a:solidFill>
              <a:srgbClr val="EBCB9E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78040" y="29900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790688" y="300837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04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一份 Preference Profile 偏好檔案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7086600" y="3538728"/>
            <a:ext cx="566928" cy="566928"/>
          </a:xfrm>
          <a:prstGeom prst="ellipse">
            <a:avLst/>
          </a:prstGeom>
          <a:solidFill>
            <a:srgbClr val="FFF0C9"/>
          </a:solidFill>
          <a:ln w="7620">
            <a:solidFill>
              <a:srgbClr val="EBCB9E">
                <a:alpha val="6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78040" y="36393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790688" y="365760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04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電影／影集／動漫／音樂推薦模板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7086600" y="4187952"/>
            <a:ext cx="566928" cy="566928"/>
          </a:xfrm>
          <a:prstGeom prst="ellipse">
            <a:avLst/>
          </a:prstGeom>
          <a:solidFill>
            <a:srgbClr val="FFF0C9"/>
          </a:solidFill>
          <a:ln w="7620">
            <a:solidFill>
              <a:srgbClr val="EBCB9E">
                <a:alpha val="6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78040" y="42885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790688" y="430682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7042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不符合 → 修正 → 再推薦流程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7132320" y="5047488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FFE9D6"/>
          </a:solidFill>
          <a:ln w="6350">
            <a:solidFill>
              <a:srgbClr val="EBCB9E">
                <a:alpha val="7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42048" y="512064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課程成果導向</a:t>
            </a: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7114032" y="54406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用生活化主題教會學生：Agent 不是一次回答，而是持續理解與校準。</a:t>
            </a:r>
            <a:endParaRPr lang="en-US" sz="11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43000"/>
            <a:ext cx="3291840" cy="2423160"/>
          </a:xfrm>
          <a:prstGeom prst="ellipse">
            <a:avLst/>
          </a:prstGeom>
          <a:solidFill>
            <a:srgbClr val="FBD7B5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383280" cy="2057400"/>
          </a:xfrm>
          <a:prstGeom prst="ellipse">
            <a:avLst/>
          </a:prstGeom>
          <a:solidFill>
            <a:srgbClr val="F7E0B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440680"/>
            <a:ext cx="2926080" cy="2194560"/>
          </a:xfrm>
          <a:prstGeom prst="ellipse">
            <a:avLst/>
          </a:prstGeom>
          <a:solidFill>
            <a:srgbClr val="FFF0C9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5532120"/>
            <a:ext cx="2468880" cy="1737360"/>
          </a:xfrm>
          <a:prstGeom prst="ellipse">
            <a:avLst/>
          </a:prstGeom>
          <a:solidFill>
            <a:srgbClr val="FFE9D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2608"/>
            <a:ext cx="914400" cy="0"/>
          </a:xfrm>
          <a:prstGeom prst="line">
            <a:avLst/>
          </a:prstGeom>
          <a:noFill/>
          <a:ln w="10160">
            <a:solidFill>
              <a:srgbClr val="E7B75B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6400800"/>
            <a:ext cx="822960" cy="0"/>
          </a:xfrm>
          <a:prstGeom prst="line">
            <a:avLst/>
          </a:prstGeom>
          <a:noFill/>
          <a:ln w="10160">
            <a:solidFill>
              <a:srgbClr val="E7B75B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475488"/>
            <a:ext cx="137160" cy="603504"/>
          </a:xfrm>
          <a:prstGeom prst="roundRect">
            <a:avLst>
              <a:gd name="adj" fmla="val 26667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2062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02｜Agent 定位：從排行榜到真正口味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50976" y="89611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 GPT 的價值在於理解「為什麼喜歡」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881360" y="475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B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6400800"/>
            <a:ext cx="10835640" cy="0"/>
          </a:xfrm>
          <a:prstGeom prst="line">
            <a:avLst/>
          </a:prstGeom>
          <a:noFill/>
          <a:ln w="8890">
            <a:solidFill>
              <a:srgbClr val="F3DEC1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娛樂口味推薦助理｜TasteMate Agent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91088" y="6492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68680" y="1481328"/>
            <a:ext cx="4828032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34440" y="18105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一般推薦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2487168"/>
            <a:ext cx="384048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熱門榜單導向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只看作品名稱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推薦理由模糊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不懂使用者討厭什麼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06440" y="3246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7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916168" y="3703320"/>
            <a:ext cx="457200" cy="0"/>
          </a:xfrm>
          <a:prstGeom prst="line">
            <a:avLst/>
          </a:prstGeom>
          <a:noFill/>
          <a:ln w="19050">
            <a:solidFill>
              <a:srgbClr val="E7B75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37960" y="1481328"/>
            <a:ext cx="4828032" cy="4251960"/>
          </a:xfrm>
          <a:prstGeom prst="roundRect">
            <a:avLst>
              <a:gd name="adj" fmla="val 1720"/>
            </a:avLst>
          </a:prstGeom>
          <a:solidFill>
            <a:srgbClr val="FFF1E4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181051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TasteMate Agent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95160" y="2487168"/>
            <a:ext cx="379476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建立偏好檔案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追問喜歡原因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記錄負面約束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每項推薦都說明理由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43000"/>
            <a:ext cx="3291840" cy="2423160"/>
          </a:xfrm>
          <a:prstGeom prst="ellipse">
            <a:avLst/>
          </a:prstGeom>
          <a:solidFill>
            <a:srgbClr val="FBD7B5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383280" cy="2057400"/>
          </a:xfrm>
          <a:prstGeom prst="ellipse">
            <a:avLst/>
          </a:prstGeom>
          <a:solidFill>
            <a:srgbClr val="F7E0B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440680"/>
            <a:ext cx="2926080" cy="2194560"/>
          </a:xfrm>
          <a:prstGeom prst="ellipse">
            <a:avLst/>
          </a:prstGeom>
          <a:solidFill>
            <a:srgbClr val="FFF0C9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5532120"/>
            <a:ext cx="2468880" cy="1737360"/>
          </a:xfrm>
          <a:prstGeom prst="ellipse">
            <a:avLst/>
          </a:prstGeom>
          <a:solidFill>
            <a:srgbClr val="FFE9D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2608"/>
            <a:ext cx="914400" cy="0"/>
          </a:xfrm>
          <a:prstGeom prst="line">
            <a:avLst/>
          </a:prstGeom>
          <a:noFill/>
          <a:ln w="10160">
            <a:solidFill>
              <a:srgbClr val="E7B75B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6400800"/>
            <a:ext cx="822960" cy="0"/>
          </a:xfrm>
          <a:prstGeom prst="line">
            <a:avLst/>
          </a:prstGeom>
          <a:noFill/>
          <a:ln w="10160">
            <a:solidFill>
              <a:srgbClr val="E7B75B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475488"/>
            <a:ext cx="137160" cy="603504"/>
          </a:xfrm>
          <a:prstGeom prst="roundRect">
            <a:avLst>
              <a:gd name="adj" fmla="val 26667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2062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03｜核心概念：三個關鍵術語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50976" y="89611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用簡單娛樂場景帶出 AI Agent 的設計邏輯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881360" y="475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B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6400800"/>
            <a:ext cx="10835640" cy="0"/>
          </a:xfrm>
          <a:prstGeom prst="line">
            <a:avLst/>
          </a:prstGeom>
          <a:noFill/>
          <a:ln w="8890">
            <a:solidFill>
              <a:srgbClr val="F3DEC1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娛樂口味推薦助理｜TasteMate Agent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91088" y="6492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68680" y="1554480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FFF1E4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24712" y="1874520"/>
            <a:ext cx="566928" cy="566928"/>
          </a:xfrm>
          <a:prstGeom prst="ellipse">
            <a:avLst/>
          </a:prstGeom>
          <a:solidFill>
            <a:srgbClr val="FFFFFF"/>
          </a:solidFill>
          <a:ln w="7620">
            <a:solidFill>
              <a:srgbClr val="EBCB9E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16152" y="19751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🎞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24712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Content-based Filtering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1124712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內容篩選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124712" y="3749040"/>
            <a:ext cx="26974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根據作品特性推薦相似內容，而不是只看大眾熱度。</a:t>
            </a:r>
            <a:endParaRPr lang="en-US" sz="1480" dirty="0"/>
          </a:p>
        </p:txBody>
      </p:sp>
      <p:sp>
        <p:nvSpPr>
          <p:cNvPr id="21" name="Shape 19"/>
          <p:cNvSpPr/>
          <p:nvPr/>
        </p:nvSpPr>
        <p:spPr>
          <a:xfrm>
            <a:off x="1143000" y="5074920"/>
            <a:ext cx="2651760" cy="0"/>
          </a:xfrm>
          <a:prstGeom prst="line">
            <a:avLst/>
          </a:prstGeom>
          <a:noFill/>
          <a:ln w="10160">
            <a:solidFill>
              <a:srgbClr val="E7B75B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52486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1554480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FFF0C9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73752" y="1874520"/>
            <a:ext cx="566928" cy="566928"/>
          </a:xfrm>
          <a:prstGeom prst="ellipse">
            <a:avLst/>
          </a:prstGeom>
          <a:solidFill>
            <a:srgbClr val="FFFFFF"/>
          </a:solidFill>
          <a:ln w="7620">
            <a:solidFill>
              <a:srgbClr val="EBCB9E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19751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73752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Preference Profile</a:t>
            </a:r>
            <a:endParaRPr lang="en-US" sz="1480" dirty="0"/>
          </a:p>
        </p:txBody>
      </p:sp>
      <p:sp>
        <p:nvSpPr>
          <p:cNvPr id="27" name="Text 25"/>
          <p:cNvSpPr/>
          <p:nvPr/>
        </p:nvSpPr>
        <p:spPr>
          <a:xfrm>
            <a:off x="4873752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偏好檔案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4873752" y="3749040"/>
            <a:ext cx="26974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記錄使用者喜歡的主題、風格、情緒與情境。</a:t>
            </a:r>
            <a:endParaRPr lang="en-US" sz="1480" dirty="0"/>
          </a:p>
        </p:txBody>
      </p:sp>
      <p:sp>
        <p:nvSpPr>
          <p:cNvPr id="29" name="Shape 27"/>
          <p:cNvSpPr/>
          <p:nvPr/>
        </p:nvSpPr>
        <p:spPr>
          <a:xfrm>
            <a:off x="4892040" y="5074920"/>
            <a:ext cx="2651760" cy="0"/>
          </a:xfrm>
          <a:prstGeom prst="line">
            <a:avLst/>
          </a:prstGeom>
          <a:noFill/>
          <a:ln w="10160">
            <a:solidFill>
              <a:srgbClr val="E7B75B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52486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66760" y="1554480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FFE4DC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22792" y="1874520"/>
            <a:ext cx="566928" cy="566928"/>
          </a:xfrm>
          <a:prstGeom prst="ellipse">
            <a:avLst/>
          </a:prstGeom>
          <a:solidFill>
            <a:srgbClr val="FFFFFF"/>
          </a:solidFill>
          <a:ln w="7620">
            <a:solidFill>
              <a:srgbClr val="EBCB9E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14232" y="197510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22792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Negative Constraint</a:t>
            </a:r>
            <a:endParaRPr lang="en-US" sz="1480" dirty="0"/>
          </a:p>
        </p:txBody>
      </p:sp>
      <p:sp>
        <p:nvSpPr>
          <p:cNvPr id="35" name="Text 33"/>
          <p:cNvSpPr/>
          <p:nvPr/>
        </p:nvSpPr>
        <p:spPr>
          <a:xfrm>
            <a:off x="8622792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負面約束</a:t>
            </a:r>
            <a:endParaRPr lang="en-US" sz="2300" dirty="0"/>
          </a:p>
        </p:txBody>
      </p:sp>
      <p:sp>
        <p:nvSpPr>
          <p:cNvPr id="36" name="Text 34"/>
          <p:cNvSpPr/>
          <p:nvPr/>
        </p:nvSpPr>
        <p:spPr>
          <a:xfrm>
            <a:off x="8622792" y="3749040"/>
            <a:ext cx="26974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明確說明不喜歡什麼，縮小錯誤推薦範圍。</a:t>
            </a:r>
            <a:endParaRPr lang="en-US" sz="1480" dirty="0"/>
          </a:p>
        </p:txBody>
      </p:sp>
      <p:sp>
        <p:nvSpPr>
          <p:cNvPr id="37" name="Shape 35"/>
          <p:cNvSpPr/>
          <p:nvPr/>
        </p:nvSpPr>
        <p:spPr>
          <a:xfrm>
            <a:off x="8641080" y="5074920"/>
            <a:ext cx="2651760" cy="0"/>
          </a:xfrm>
          <a:prstGeom prst="line">
            <a:avLst/>
          </a:prstGeom>
          <a:noFill/>
          <a:ln w="10160">
            <a:solidFill>
              <a:srgbClr val="E7B75B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08792" y="52486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43000"/>
            <a:ext cx="3291840" cy="2423160"/>
          </a:xfrm>
          <a:prstGeom prst="ellipse">
            <a:avLst/>
          </a:prstGeom>
          <a:solidFill>
            <a:srgbClr val="FBD7B5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383280" cy="2057400"/>
          </a:xfrm>
          <a:prstGeom prst="ellipse">
            <a:avLst/>
          </a:prstGeom>
          <a:solidFill>
            <a:srgbClr val="F7E0B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440680"/>
            <a:ext cx="2926080" cy="2194560"/>
          </a:xfrm>
          <a:prstGeom prst="ellipse">
            <a:avLst/>
          </a:prstGeom>
          <a:solidFill>
            <a:srgbClr val="FFF0C9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5532120"/>
            <a:ext cx="2468880" cy="1737360"/>
          </a:xfrm>
          <a:prstGeom prst="ellipse">
            <a:avLst/>
          </a:prstGeom>
          <a:solidFill>
            <a:srgbClr val="FFE9D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2608"/>
            <a:ext cx="914400" cy="0"/>
          </a:xfrm>
          <a:prstGeom prst="line">
            <a:avLst/>
          </a:prstGeom>
          <a:noFill/>
          <a:ln w="10160">
            <a:solidFill>
              <a:srgbClr val="E7B75B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6400800"/>
            <a:ext cx="822960" cy="0"/>
          </a:xfrm>
          <a:prstGeom prst="line">
            <a:avLst/>
          </a:prstGeom>
          <a:noFill/>
          <a:ln w="10160">
            <a:solidFill>
              <a:srgbClr val="E7B75B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475488"/>
            <a:ext cx="137160" cy="603504"/>
          </a:xfrm>
          <a:prstGeom prst="roundRect">
            <a:avLst>
              <a:gd name="adj" fmla="val 26667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2062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04｜Preference Profile：偏好維度地圖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50976" y="89611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GPT 能針對不同娛樂類型拆解使用者口味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881360" y="475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B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6400800"/>
            <a:ext cx="10835640" cy="0"/>
          </a:xfrm>
          <a:prstGeom prst="line">
            <a:avLst/>
          </a:prstGeom>
          <a:noFill/>
          <a:ln w="8890">
            <a:solidFill>
              <a:srgbClr val="F3DEC1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娛樂口味推薦助理｜TasteMate Agent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91088" y="6492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14400" y="1389888"/>
            <a:ext cx="103784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15568" y="1600200"/>
            <a:ext cx="9966960" cy="502920"/>
          </a:xfrm>
          <a:prstGeom prst="roundRect">
            <a:avLst>
              <a:gd name="adj" fmla="val 7273"/>
            </a:avLst>
          </a:prstGeom>
          <a:solidFill>
            <a:srgbClr val="FFF0C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174650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2788920" y="174650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偏好維度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1115568" y="21214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FFFC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22677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電影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788920" y="2267712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主題、劇情節奏、角色關係、結局風格、視覺風格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1417320" y="29535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影集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788920" y="2953512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題材、敘事速度、集數長度、角色成長</a:t>
            </a:r>
            <a:endParaRPr lang="en-US" sz="1430" dirty="0"/>
          </a:p>
        </p:txBody>
      </p:sp>
      <p:sp>
        <p:nvSpPr>
          <p:cNvPr id="24" name="Shape 22"/>
          <p:cNvSpPr/>
          <p:nvPr/>
        </p:nvSpPr>
        <p:spPr>
          <a:xfrm>
            <a:off x="1115568" y="34930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FFFC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36393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音樂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788920" y="3639312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情緒、節奏、語言、樂器、適合情境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1417320" y="43251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動漫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788920" y="4325112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世界觀、人設、戰鬥／戀愛／心理／懸疑比例</a:t>
            </a:r>
            <a:endParaRPr lang="en-US" sz="1430" dirty="0"/>
          </a:p>
        </p:txBody>
      </p:sp>
      <p:sp>
        <p:nvSpPr>
          <p:cNvPr id="29" name="Shape 27"/>
          <p:cNvSpPr/>
          <p:nvPr/>
        </p:nvSpPr>
        <p:spPr>
          <a:xfrm>
            <a:off x="1115568" y="4864608"/>
            <a:ext cx="9966960" cy="512064"/>
          </a:xfrm>
          <a:prstGeom prst="roundRect">
            <a:avLst>
              <a:gd name="adj" fmla="val 7143"/>
            </a:avLst>
          </a:prstGeom>
          <a:solidFill>
            <a:srgbClr val="FFFC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50109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書籍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2788920" y="5010912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類型、深度、敘事角度、閱讀難度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1051560" y="6080760"/>
            <a:ext cx="9875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教學提醒：學生要學會「拆解喜歡的原因」，不是只丟作品名稱給 AI。</a:t>
            </a:r>
            <a:endParaRPr lang="en-US" sz="1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43000"/>
            <a:ext cx="3291840" cy="2423160"/>
          </a:xfrm>
          <a:prstGeom prst="ellipse">
            <a:avLst/>
          </a:prstGeom>
          <a:solidFill>
            <a:srgbClr val="FBD7B5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383280" cy="2057400"/>
          </a:xfrm>
          <a:prstGeom prst="ellipse">
            <a:avLst/>
          </a:prstGeom>
          <a:solidFill>
            <a:srgbClr val="F7E0B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440680"/>
            <a:ext cx="2926080" cy="2194560"/>
          </a:xfrm>
          <a:prstGeom prst="ellipse">
            <a:avLst/>
          </a:prstGeom>
          <a:solidFill>
            <a:srgbClr val="FFF0C9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5532120"/>
            <a:ext cx="2468880" cy="1737360"/>
          </a:xfrm>
          <a:prstGeom prst="ellipse">
            <a:avLst/>
          </a:prstGeom>
          <a:solidFill>
            <a:srgbClr val="FFE9D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2608"/>
            <a:ext cx="914400" cy="0"/>
          </a:xfrm>
          <a:prstGeom prst="line">
            <a:avLst/>
          </a:prstGeom>
          <a:noFill/>
          <a:ln w="10160">
            <a:solidFill>
              <a:srgbClr val="E7B75B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6400800"/>
            <a:ext cx="822960" cy="0"/>
          </a:xfrm>
          <a:prstGeom prst="line">
            <a:avLst/>
          </a:prstGeom>
          <a:noFill/>
          <a:ln w="10160">
            <a:solidFill>
              <a:srgbClr val="E7B75B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475488"/>
            <a:ext cx="137160" cy="603504"/>
          </a:xfrm>
          <a:prstGeom prst="roundRect">
            <a:avLst>
              <a:gd name="adj" fmla="val 26667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2062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05｜製作前準備：三份資料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50976" y="89611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先定義 Agent 的能力、邏輯與輸出格式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881360" y="475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B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6400800"/>
            <a:ext cx="10835640" cy="0"/>
          </a:xfrm>
          <a:prstGeom prst="line">
            <a:avLst/>
          </a:prstGeom>
          <a:noFill/>
          <a:ln w="8890">
            <a:solidFill>
              <a:srgbClr val="F3DEC1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娛樂口味推薦助理｜TasteMate Agent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91088" y="6492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9808" y="1444752"/>
            <a:ext cx="3273552" cy="4462272"/>
          </a:xfrm>
          <a:prstGeom prst="roundRect">
            <a:avLst>
              <a:gd name="adj" fmla="val 2235"/>
            </a:avLst>
          </a:prstGeom>
          <a:solidFill>
            <a:srgbClr val="FFF1E4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87552" y="1444752"/>
            <a:ext cx="658368" cy="429768"/>
          </a:xfrm>
          <a:prstGeom prst="roundRect">
            <a:avLst>
              <a:gd name="adj" fmla="val 12766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1545336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15568" y="19933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功能清單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115568" y="2578608"/>
            <a:ext cx="2514600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詢問喜歡作品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追問為什麼喜歡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記錄正面偏好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記錄負面約束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推薦並說明理由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根據回饋修正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4544568" y="1444752"/>
            <a:ext cx="3273552" cy="4462272"/>
          </a:xfrm>
          <a:prstGeom prst="roundRect">
            <a:avLst>
              <a:gd name="adj" fmla="val 2235"/>
            </a:avLst>
          </a:prstGeom>
          <a:solidFill>
            <a:srgbClr val="FFF0C9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82312" y="1444752"/>
            <a:ext cx="658368" cy="429768"/>
          </a:xfrm>
          <a:prstGeom prst="roundRect">
            <a:avLst>
              <a:gd name="adj" fmla="val 12766"/>
            </a:avLst>
          </a:prstGeom>
          <a:solidFill>
            <a:srgbClr val="D79A3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1545336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10328" y="19933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推薦邏輯設計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4910328" y="2578608"/>
            <a:ext cx="2514600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使用內容篩選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根據作品特徵找相似內容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避開不喜歡元素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每次推薦都可解釋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8339328" y="1444752"/>
            <a:ext cx="3273552" cy="4462272"/>
          </a:xfrm>
          <a:prstGeom prst="roundRect">
            <a:avLst>
              <a:gd name="adj" fmla="val 2235"/>
            </a:avLst>
          </a:prstGeom>
          <a:solidFill>
            <a:srgbClr val="FFE4DC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77072" y="1444752"/>
            <a:ext cx="658368" cy="429768"/>
          </a:xfrm>
          <a:prstGeom prst="roundRect">
            <a:avLst>
              <a:gd name="adj" fmla="val 12766"/>
            </a:avLst>
          </a:prstGeom>
          <a:solidFill>
            <a:srgbClr val="C653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13648" y="1545336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705088" y="199339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推薦輸出格式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8705088" y="2578608"/>
            <a:ext cx="2514600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推薦名稱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類型與一句話介紹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推薦理由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符合哪個偏好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可能不適合的地方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適合觀看／聆聽時機</a:t>
            </a:r>
            <a:endParaRPr lang="en-US" sz="12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43000"/>
            <a:ext cx="3291840" cy="2423160"/>
          </a:xfrm>
          <a:prstGeom prst="ellipse">
            <a:avLst/>
          </a:prstGeom>
          <a:solidFill>
            <a:srgbClr val="FBD7B5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383280" cy="2057400"/>
          </a:xfrm>
          <a:prstGeom prst="ellipse">
            <a:avLst/>
          </a:prstGeom>
          <a:solidFill>
            <a:srgbClr val="F7E0B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440680"/>
            <a:ext cx="2926080" cy="2194560"/>
          </a:xfrm>
          <a:prstGeom prst="ellipse">
            <a:avLst/>
          </a:prstGeom>
          <a:solidFill>
            <a:srgbClr val="FFF0C9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5532120"/>
            <a:ext cx="2468880" cy="1737360"/>
          </a:xfrm>
          <a:prstGeom prst="ellipse">
            <a:avLst/>
          </a:prstGeom>
          <a:solidFill>
            <a:srgbClr val="FFE9D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2608"/>
            <a:ext cx="914400" cy="0"/>
          </a:xfrm>
          <a:prstGeom prst="line">
            <a:avLst/>
          </a:prstGeom>
          <a:noFill/>
          <a:ln w="10160">
            <a:solidFill>
              <a:srgbClr val="E7B75B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6400800"/>
            <a:ext cx="822960" cy="0"/>
          </a:xfrm>
          <a:prstGeom prst="line">
            <a:avLst/>
          </a:prstGeom>
          <a:noFill/>
          <a:ln w="10160">
            <a:solidFill>
              <a:srgbClr val="E7B75B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475488"/>
            <a:ext cx="137160" cy="603504"/>
          </a:xfrm>
          <a:prstGeom prst="roundRect">
            <a:avLst>
              <a:gd name="adj" fmla="val 26667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2062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06｜Agent 對話流程：六個必要能力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50976" y="89611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把推薦設計成可追問、可記錄、可修正的流程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881360" y="475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B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6400800"/>
            <a:ext cx="10835640" cy="0"/>
          </a:xfrm>
          <a:prstGeom prst="line">
            <a:avLst/>
          </a:prstGeom>
          <a:noFill/>
          <a:ln w="8890">
            <a:solidFill>
              <a:srgbClr val="F3DEC1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娛樂口味推薦助理｜TasteMate Agent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91088" y="6492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43000" y="1353312"/>
            <a:ext cx="9921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81328" y="1618488"/>
            <a:ext cx="9189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核心觀念：推薦結果不準時，不是結束，而是進入「口味校準」流程。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1645920" y="3200400"/>
            <a:ext cx="676656" cy="0"/>
          </a:xfrm>
          <a:prstGeom prst="line">
            <a:avLst/>
          </a:prstGeom>
          <a:noFill/>
          <a:ln w="19050">
            <a:solidFill>
              <a:srgbClr val="E7B75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529584" y="3200400"/>
            <a:ext cx="676656" cy="0"/>
          </a:xfrm>
          <a:prstGeom prst="line">
            <a:avLst/>
          </a:prstGeom>
          <a:noFill/>
          <a:ln w="19050">
            <a:solidFill>
              <a:srgbClr val="E7B75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13248" y="3200400"/>
            <a:ext cx="676656" cy="0"/>
          </a:xfrm>
          <a:prstGeom prst="line">
            <a:avLst/>
          </a:prstGeom>
          <a:noFill/>
          <a:ln w="19050">
            <a:solidFill>
              <a:srgbClr val="E7B75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96912" y="3200400"/>
            <a:ext cx="676656" cy="0"/>
          </a:xfrm>
          <a:prstGeom prst="line">
            <a:avLst/>
          </a:prstGeom>
          <a:noFill/>
          <a:ln w="19050">
            <a:solidFill>
              <a:srgbClr val="E7B75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80576" y="3200400"/>
            <a:ext cx="676656" cy="0"/>
          </a:xfrm>
          <a:prstGeom prst="line">
            <a:avLst/>
          </a:prstGeom>
          <a:noFill/>
          <a:ln w="19050">
            <a:solidFill>
              <a:srgbClr val="E7B75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6656" y="2743200"/>
            <a:ext cx="1243584" cy="144475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33272" y="29260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59536" y="33192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詢問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95528" y="36758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喜歡作品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560320" y="2743200"/>
            <a:ext cx="1243584" cy="1444752"/>
          </a:xfrm>
          <a:prstGeom prst="roundRect">
            <a:avLst>
              <a:gd name="adj" fmla="val 5882"/>
            </a:avLst>
          </a:prstGeom>
          <a:solidFill>
            <a:srgbClr val="FFF1E4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916936" y="29260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2743200" y="33192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追問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679192" y="36758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喜歡原因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443984" y="2743200"/>
            <a:ext cx="1243584" cy="144475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29260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4626864" y="33192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62856" y="36758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正面偏好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327648" y="2743200"/>
            <a:ext cx="1243584" cy="1444752"/>
          </a:xfrm>
          <a:prstGeom prst="roundRect">
            <a:avLst>
              <a:gd name="adj" fmla="val 5882"/>
            </a:avLst>
          </a:prstGeom>
          <a:solidFill>
            <a:srgbClr val="FFF1E4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84264" y="29260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6510528" y="33192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446520" y="36758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負面約束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8211312" y="2743200"/>
            <a:ext cx="1243584" cy="144475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567928" y="29260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8394192" y="33192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330184" y="36758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說明理由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10094976" y="2743200"/>
            <a:ext cx="1243584" cy="1444752"/>
          </a:xfrm>
          <a:prstGeom prst="roundRect">
            <a:avLst>
              <a:gd name="adj" fmla="val 5882"/>
            </a:avLst>
          </a:prstGeom>
          <a:solidFill>
            <a:srgbClr val="FFF1E4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0451592" y="292608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0277856" y="33192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213848" y="367588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使用者回饋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43000"/>
            <a:ext cx="3291840" cy="2423160"/>
          </a:xfrm>
          <a:prstGeom prst="ellipse">
            <a:avLst/>
          </a:prstGeom>
          <a:solidFill>
            <a:srgbClr val="FBD7B5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383280" cy="2057400"/>
          </a:xfrm>
          <a:prstGeom prst="ellipse">
            <a:avLst/>
          </a:prstGeom>
          <a:solidFill>
            <a:srgbClr val="F7E0B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440680"/>
            <a:ext cx="2926080" cy="2194560"/>
          </a:xfrm>
          <a:prstGeom prst="ellipse">
            <a:avLst/>
          </a:prstGeom>
          <a:solidFill>
            <a:srgbClr val="FFF0C9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5532120"/>
            <a:ext cx="2468880" cy="1737360"/>
          </a:xfrm>
          <a:prstGeom prst="ellipse">
            <a:avLst/>
          </a:prstGeom>
          <a:solidFill>
            <a:srgbClr val="FFE9D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2608"/>
            <a:ext cx="914400" cy="0"/>
          </a:xfrm>
          <a:prstGeom prst="line">
            <a:avLst/>
          </a:prstGeom>
          <a:noFill/>
          <a:ln w="10160">
            <a:solidFill>
              <a:srgbClr val="E7B75B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6400800"/>
            <a:ext cx="822960" cy="0"/>
          </a:xfrm>
          <a:prstGeom prst="line">
            <a:avLst/>
          </a:prstGeom>
          <a:noFill/>
          <a:ln w="10160">
            <a:solidFill>
              <a:srgbClr val="E7B75B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475488"/>
            <a:ext cx="137160" cy="603504"/>
          </a:xfrm>
          <a:prstGeom prst="roundRect">
            <a:avLst>
              <a:gd name="adj" fmla="val 26667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2062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07｜推薦邏輯示範：《寄生上流》案例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50976" y="89611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把一句偏好描述拆成 Agent 可以使用的推薦條件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881360" y="475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B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6400800"/>
            <a:ext cx="10835640" cy="0"/>
          </a:xfrm>
          <a:prstGeom prst="line">
            <a:avLst/>
          </a:prstGeom>
          <a:noFill/>
          <a:ln w="8890">
            <a:solidFill>
              <a:srgbClr val="F3DEC1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娛樂口味推薦助理｜TasteMate Agent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91088" y="6492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9808" y="1389888"/>
            <a:ext cx="3730752" cy="449884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60704" y="1755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使用者說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60704" y="2359152"/>
            <a:ext cx="307238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我喜歡《寄生上流》，因為它有社會階級批判、黑色幽默、劇情反轉，但我不喜歡純暴力血腥。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60704" y="49834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✦ 喜歡的原因，比作品名稱更重要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82312" y="326440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9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504688" y="1389888"/>
            <a:ext cx="5925312" cy="4498848"/>
          </a:xfrm>
          <a:prstGeom prst="roundRect">
            <a:avLst>
              <a:gd name="adj" fmla="val 1626"/>
            </a:avLst>
          </a:prstGeom>
          <a:solidFill>
            <a:srgbClr val="FFFDF8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33288" y="1664208"/>
            <a:ext cx="5468112" cy="475488"/>
          </a:xfrm>
          <a:prstGeom prst="roundRect">
            <a:avLst>
              <a:gd name="adj" fmla="val 7692"/>
            </a:avLst>
          </a:prstGeom>
          <a:solidFill>
            <a:srgbClr val="FFF0C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5312" y="181051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偏好類型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0" y="1810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25312" y="24231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主題偏好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7315200" y="24231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社會階級、貧富差距、人性批判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5888736" y="2834640"/>
            <a:ext cx="5047488" cy="0"/>
          </a:xfrm>
          <a:prstGeom prst="line">
            <a:avLst/>
          </a:prstGeom>
          <a:noFill/>
          <a:ln w="8890">
            <a:solidFill>
              <a:srgbClr val="F3DE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31729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劇情偏好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7315200" y="31729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反轉、懸疑、張力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5888736" y="3584448"/>
            <a:ext cx="5047488" cy="0"/>
          </a:xfrm>
          <a:prstGeom prst="line">
            <a:avLst/>
          </a:prstGeom>
          <a:noFill/>
          <a:ln w="8890">
            <a:solidFill>
              <a:srgbClr val="F3DE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25312" y="39227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風格偏好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7315200" y="3922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黑色幽默、諷刺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5888736" y="4334256"/>
            <a:ext cx="5047488" cy="0"/>
          </a:xfrm>
          <a:prstGeom prst="line">
            <a:avLst/>
          </a:prstGeom>
          <a:noFill/>
          <a:ln w="8890">
            <a:solidFill>
              <a:srgbClr val="F3DE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5312" y="467258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負面約束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7315200" y="4672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不要純血腥暴力、不要太正能量結局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43000"/>
            <a:ext cx="3291840" cy="2423160"/>
          </a:xfrm>
          <a:prstGeom prst="ellipse">
            <a:avLst/>
          </a:prstGeom>
          <a:solidFill>
            <a:srgbClr val="FBD7B5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383280" cy="2057400"/>
          </a:xfrm>
          <a:prstGeom prst="ellipse">
            <a:avLst/>
          </a:prstGeom>
          <a:solidFill>
            <a:srgbClr val="F7E0B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440680"/>
            <a:ext cx="2926080" cy="2194560"/>
          </a:xfrm>
          <a:prstGeom prst="ellipse">
            <a:avLst/>
          </a:prstGeom>
          <a:solidFill>
            <a:srgbClr val="FFF0C9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5532120"/>
            <a:ext cx="2468880" cy="1737360"/>
          </a:xfrm>
          <a:prstGeom prst="ellipse">
            <a:avLst/>
          </a:prstGeom>
          <a:solidFill>
            <a:srgbClr val="FFE9D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2608"/>
            <a:ext cx="914400" cy="0"/>
          </a:xfrm>
          <a:prstGeom prst="line">
            <a:avLst/>
          </a:prstGeom>
          <a:noFill/>
          <a:ln w="10160">
            <a:solidFill>
              <a:srgbClr val="E7B75B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6400800"/>
            <a:ext cx="822960" cy="0"/>
          </a:xfrm>
          <a:prstGeom prst="line">
            <a:avLst/>
          </a:prstGeom>
          <a:noFill/>
          <a:ln w="10160">
            <a:solidFill>
              <a:srgbClr val="E7B75B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475488"/>
            <a:ext cx="137160" cy="603504"/>
          </a:xfrm>
          <a:prstGeom prst="roundRect">
            <a:avLst>
              <a:gd name="adj" fmla="val 26667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2062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08｜推薦輸出格式：固定欄位提高專業感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50976" y="89611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讓學生看得懂，也讓 Agent 回答品質穩定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881360" y="475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B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6400800"/>
            <a:ext cx="10835640" cy="0"/>
          </a:xfrm>
          <a:prstGeom prst="line">
            <a:avLst/>
          </a:prstGeom>
          <a:noFill/>
          <a:ln w="8890">
            <a:solidFill>
              <a:srgbClr val="F3DEC1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娛樂口味推薦助理｜TasteMate Agent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91088" y="6492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68680" y="1389888"/>
            <a:ext cx="507492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3444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標準輸出模板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25880" y="2322576"/>
            <a:ext cx="406908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推薦名稱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類型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一句話介紹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推薦理由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符合你的哪個偏好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可能不適合你的地方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適合觀看／聆聽時機</a:t>
            </a:r>
            <a:endParaRPr lang="en-US" sz="1580" dirty="0"/>
          </a:p>
        </p:txBody>
      </p:sp>
      <p:sp>
        <p:nvSpPr>
          <p:cNvPr id="18" name="Shape 16"/>
          <p:cNvSpPr/>
          <p:nvPr/>
        </p:nvSpPr>
        <p:spPr>
          <a:xfrm>
            <a:off x="6446520" y="1389888"/>
            <a:ext cx="4892040" cy="4617720"/>
          </a:xfrm>
          <a:prstGeom prst="roundRect">
            <a:avLst>
              <a:gd name="adj" fmla="val 1584"/>
            </a:avLst>
          </a:prstGeom>
          <a:solidFill>
            <a:srgbClr val="FFF0C9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737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為什麼要固定格式？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903720" y="2423160"/>
            <a:ext cx="38862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推薦結果更容易比較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學生能檢查 AI 是否理解偏好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每項都要說明「為什麼適合」</a:t>
            </a:r>
            <a:endParaRPr lang="en-US" sz="1580" dirty="0"/>
          </a:p>
          <a:p>
            <a:pPr indent="0" marL="0">
              <a:buNone/>
            </a:pPr>
            <a:r>
              <a:rPr lang="en-US" sz="15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保留可能不適合之處，避免過度推薦</a:t>
            </a:r>
            <a:endParaRPr lang="en-US" sz="1580" dirty="0"/>
          </a:p>
        </p:txBody>
      </p:sp>
      <p:sp>
        <p:nvSpPr>
          <p:cNvPr id="21" name="Shape 19"/>
          <p:cNvSpPr/>
          <p:nvPr/>
        </p:nvSpPr>
        <p:spPr>
          <a:xfrm>
            <a:off x="6903720" y="5230368"/>
            <a:ext cx="3657600" cy="0"/>
          </a:xfrm>
          <a:prstGeom prst="line">
            <a:avLst/>
          </a:prstGeom>
          <a:noFill/>
          <a:ln w="12700">
            <a:solidFill>
              <a:srgbClr val="E7B75B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43000"/>
            <a:ext cx="3291840" cy="2423160"/>
          </a:xfrm>
          <a:prstGeom prst="ellipse">
            <a:avLst/>
          </a:prstGeom>
          <a:solidFill>
            <a:srgbClr val="FBD7B5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383280" cy="2057400"/>
          </a:xfrm>
          <a:prstGeom prst="ellipse">
            <a:avLst/>
          </a:prstGeom>
          <a:solidFill>
            <a:srgbClr val="F7E0B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440680"/>
            <a:ext cx="2926080" cy="2194560"/>
          </a:xfrm>
          <a:prstGeom prst="ellipse">
            <a:avLst/>
          </a:prstGeom>
          <a:solidFill>
            <a:srgbClr val="FFF0C9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5532120"/>
            <a:ext cx="2468880" cy="1737360"/>
          </a:xfrm>
          <a:prstGeom prst="ellipse">
            <a:avLst/>
          </a:prstGeom>
          <a:solidFill>
            <a:srgbClr val="FFE9D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2608"/>
            <a:ext cx="914400" cy="0"/>
          </a:xfrm>
          <a:prstGeom prst="line">
            <a:avLst/>
          </a:prstGeom>
          <a:noFill/>
          <a:ln w="10160">
            <a:solidFill>
              <a:srgbClr val="E7B75B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6400800"/>
            <a:ext cx="822960" cy="0"/>
          </a:xfrm>
          <a:prstGeom prst="line">
            <a:avLst/>
          </a:prstGeom>
          <a:noFill/>
          <a:ln w="10160">
            <a:solidFill>
              <a:srgbClr val="E7B75B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475488"/>
            <a:ext cx="137160" cy="603504"/>
          </a:xfrm>
          <a:prstGeom prst="roundRect">
            <a:avLst>
              <a:gd name="adj" fmla="val 26667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2062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09｜GPT 製作步驟：從名稱到 Instructions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50976" y="89611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課堂實作時帶學生一步一步完成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881360" y="475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B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6400800"/>
            <a:ext cx="10835640" cy="0"/>
          </a:xfrm>
          <a:prstGeom prst="line">
            <a:avLst/>
          </a:prstGeom>
          <a:noFill/>
          <a:ln w="8890">
            <a:solidFill>
              <a:srgbClr val="F3DEC1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娛樂口味推薦助理｜TasteMate Agent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91088" y="6492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68680" y="1307592"/>
            <a:ext cx="5074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1472184"/>
            <a:ext cx="658368" cy="429768"/>
          </a:xfrm>
          <a:prstGeom prst="roundRect">
            <a:avLst>
              <a:gd name="adj" fmla="val 12766"/>
            </a:avLst>
          </a:prstGeom>
          <a:solidFill>
            <a:srgbClr val="D79A3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" y="1572768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856232" y="15361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Name</a:t>
            </a:r>
            <a:endParaRPr lang="en-US" sz="1620" dirty="0"/>
          </a:p>
        </p:txBody>
      </p:sp>
      <p:sp>
        <p:nvSpPr>
          <p:cNvPr id="19" name="Text 17"/>
          <p:cNvSpPr/>
          <p:nvPr/>
        </p:nvSpPr>
        <p:spPr>
          <a:xfrm>
            <a:off x="1856232" y="1911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娛樂口味推薦助理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6446520" y="1307592"/>
            <a:ext cx="5074920" cy="1133856"/>
          </a:xfrm>
          <a:prstGeom prst="roundRect">
            <a:avLst>
              <a:gd name="adj" fmla="val 6452"/>
            </a:avLst>
          </a:prstGeom>
          <a:solidFill>
            <a:srgbClr val="FFF1E4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1472184"/>
            <a:ext cx="658368" cy="429768"/>
          </a:xfrm>
          <a:prstGeom prst="roundRect">
            <a:avLst>
              <a:gd name="adj" fmla="val 12766"/>
            </a:avLst>
          </a:prstGeom>
          <a:solidFill>
            <a:srgbClr val="D79A3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65976" y="1572768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34072" y="15361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Description</a:t>
            </a:r>
            <a:endParaRPr lang="en-US" sz="1620" dirty="0"/>
          </a:p>
        </p:txBody>
      </p:sp>
      <p:sp>
        <p:nvSpPr>
          <p:cNvPr id="24" name="Text 22"/>
          <p:cNvSpPr/>
          <p:nvPr/>
        </p:nvSpPr>
        <p:spPr>
          <a:xfrm>
            <a:off x="7434072" y="19110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說明它能推薦電影、影集、動漫、音樂、書籍與遊戲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868680" y="2862072"/>
            <a:ext cx="5074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51560" y="3026664"/>
            <a:ext cx="658368" cy="429768"/>
          </a:xfrm>
          <a:prstGeom prst="roundRect">
            <a:avLst>
              <a:gd name="adj" fmla="val 12766"/>
            </a:avLst>
          </a:prstGeom>
          <a:solidFill>
            <a:srgbClr val="D79A3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8136" y="3127248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856232" y="30906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Conversation Starters</a:t>
            </a:r>
            <a:endParaRPr lang="en-US" sz="1620" dirty="0"/>
          </a:p>
        </p:txBody>
      </p:sp>
      <p:sp>
        <p:nvSpPr>
          <p:cNvPr id="29" name="Text 27"/>
          <p:cNvSpPr/>
          <p:nvPr/>
        </p:nvSpPr>
        <p:spPr>
          <a:xfrm>
            <a:off x="1856232" y="34655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放入電影推薦、音樂歌單、建立口味檔案等起手句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6446520" y="2862072"/>
            <a:ext cx="5074920" cy="1133856"/>
          </a:xfrm>
          <a:prstGeom prst="roundRect">
            <a:avLst>
              <a:gd name="adj" fmla="val 6452"/>
            </a:avLst>
          </a:prstGeom>
          <a:solidFill>
            <a:srgbClr val="FFF1E4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29400" y="3026664"/>
            <a:ext cx="658368" cy="429768"/>
          </a:xfrm>
          <a:prstGeom prst="roundRect">
            <a:avLst>
              <a:gd name="adj" fmla="val 12766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65976" y="3127248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434072" y="30906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Instructions</a:t>
            </a:r>
            <a:endParaRPr lang="en-US" sz="1620" dirty="0"/>
          </a:p>
        </p:txBody>
      </p:sp>
      <p:sp>
        <p:nvSpPr>
          <p:cNvPr id="34" name="Text 32"/>
          <p:cNvSpPr/>
          <p:nvPr/>
        </p:nvSpPr>
        <p:spPr>
          <a:xfrm>
            <a:off x="7434072" y="34655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貼上角色定位、追問規則、輸出格式與避雷規則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868680" y="4416552"/>
            <a:ext cx="50749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51560" y="4581144"/>
            <a:ext cx="658368" cy="429768"/>
          </a:xfrm>
          <a:prstGeom prst="roundRect">
            <a:avLst>
              <a:gd name="adj" fmla="val 12766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88136" y="4681728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856232" y="46451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Capabilities</a:t>
            </a:r>
            <a:endParaRPr lang="en-US" sz="1620" dirty="0"/>
          </a:p>
        </p:txBody>
      </p:sp>
      <p:sp>
        <p:nvSpPr>
          <p:cNvPr id="39" name="Text 37"/>
          <p:cNvSpPr/>
          <p:nvPr/>
        </p:nvSpPr>
        <p:spPr>
          <a:xfrm>
            <a:off x="1856232" y="5020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建議開啟 Web Search，必要時加上資料分析</a:t>
            </a:r>
            <a:endParaRPr lang="en-US" sz="1140" dirty="0"/>
          </a:p>
        </p:txBody>
      </p:sp>
      <p:sp>
        <p:nvSpPr>
          <p:cNvPr id="40" name="Shape 38"/>
          <p:cNvSpPr/>
          <p:nvPr/>
        </p:nvSpPr>
        <p:spPr>
          <a:xfrm>
            <a:off x="6446520" y="4416552"/>
            <a:ext cx="5074920" cy="1133856"/>
          </a:xfrm>
          <a:prstGeom prst="roundRect">
            <a:avLst>
              <a:gd name="adj" fmla="val 6452"/>
            </a:avLst>
          </a:prstGeom>
          <a:solidFill>
            <a:srgbClr val="FFF1E4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629400" y="4581144"/>
            <a:ext cx="658368" cy="429768"/>
          </a:xfrm>
          <a:prstGeom prst="roundRect">
            <a:avLst>
              <a:gd name="adj" fmla="val 12766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65976" y="4681728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434072" y="46451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Testing</a:t>
            </a:r>
            <a:endParaRPr lang="en-US" sz="1620" dirty="0"/>
          </a:p>
        </p:txBody>
      </p:sp>
      <p:sp>
        <p:nvSpPr>
          <p:cNvPr id="44" name="Text 42"/>
          <p:cNvSpPr/>
          <p:nvPr/>
        </p:nvSpPr>
        <p:spPr>
          <a:xfrm>
            <a:off x="7434072" y="5020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用資訊不足、負面約束、回饋修正三種情境測試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43000"/>
            <a:ext cx="3291840" cy="2423160"/>
          </a:xfrm>
          <a:prstGeom prst="ellipse">
            <a:avLst/>
          </a:prstGeom>
          <a:solidFill>
            <a:srgbClr val="FBD7B5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383280" cy="2057400"/>
          </a:xfrm>
          <a:prstGeom prst="ellipse">
            <a:avLst/>
          </a:prstGeom>
          <a:solidFill>
            <a:srgbClr val="F7E0B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440680"/>
            <a:ext cx="2926080" cy="2194560"/>
          </a:xfrm>
          <a:prstGeom prst="ellipse">
            <a:avLst/>
          </a:prstGeom>
          <a:solidFill>
            <a:srgbClr val="FFF0C9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5532120"/>
            <a:ext cx="2468880" cy="1737360"/>
          </a:xfrm>
          <a:prstGeom prst="ellipse">
            <a:avLst/>
          </a:prstGeom>
          <a:solidFill>
            <a:srgbClr val="FFE9D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2608"/>
            <a:ext cx="914400" cy="0"/>
          </a:xfrm>
          <a:prstGeom prst="line">
            <a:avLst/>
          </a:prstGeom>
          <a:noFill/>
          <a:ln w="10160">
            <a:solidFill>
              <a:srgbClr val="E7B75B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6400800"/>
            <a:ext cx="822960" cy="0"/>
          </a:xfrm>
          <a:prstGeom prst="line">
            <a:avLst/>
          </a:prstGeom>
          <a:noFill/>
          <a:ln w="10160">
            <a:solidFill>
              <a:srgbClr val="E7B75B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475488"/>
            <a:ext cx="137160" cy="603504"/>
          </a:xfrm>
          <a:prstGeom prst="roundRect">
            <a:avLst>
              <a:gd name="adj" fmla="val 26667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2062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10｜3 小時課程流程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50976" y="89611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 → 實作 → 優化，讓學生完成可展示的 GPT Agent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881360" y="475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B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6400800"/>
            <a:ext cx="10835640" cy="0"/>
          </a:xfrm>
          <a:prstGeom prst="line">
            <a:avLst/>
          </a:prstGeom>
          <a:noFill/>
          <a:ln w="8890">
            <a:solidFill>
              <a:srgbClr val="F3DEC1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娛樂口味推薦助理｜TasteMate Agent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91088" y="6492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68680" y="1444752"/>
            <a:ext cx="3246120" cy="4407408"/>
          </a:xfrm>
          <a:prstGeom prst="roundRect">
            <a:avLst>
              <a:gd name="adj" fmla="val 2254"/>
            </a:avLst>
          </a:prstGeom>
          <a:solidFill>
            <a:srgbClr val="FFF1E4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24712" y="17830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小時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1124712" y="2194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概念教學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2898648"/>
            <a:ext cx="25146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內容篩選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偏好檔案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負面約束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高品質推薦指令</a:t>
            </a:r>
            <a:endParaRPr lang="en-US" sz="1480" dirty="0"/>
          </a:p>
        </p:txBody>
      </p:sp>
      <p:sp>
        <p:nvSpPr>
          <p:cNvPr id="19" name="Shape 17"/>
          <p:cNvSpPr/>
          <p:nvPr/>
        </p:nvSpPr>
        <p:spPr>
          <a:xfrm>
            <a:off x="4617720" y="1444752"/>
            <a:ext cx="3246120" cy="4407408"/>
          </a:xfrm>
          <a:prstGeom prst="roundRect">
            <a:avLst>
              <a:gd name="adj" fmla="val 2254"/>
            </a:avLst>
          </a:prstGeom>
          <a:solidFill>
            <a:srgbClr val="FFF0C9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17830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小時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4873752" y="2194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 GPT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937760" y="2898648"/>
            <a:ext cx="25146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建立 GPT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設定名稱與描述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貼上 Instructions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設定開場白與能力</a:t>
            </a:r>
            <a:endParaRPr lang="en-US" sz="1480" dirty="0"/>
          </a:p>
        </p:txBody>
      </p:sp>
      <p:sp>
        <p:nvSpPr>
          <p:cNvPr id="23" name="Shape 21"/>
          <p:cNvSpPr/>
          <p:nvPr/>
        </p:nvSpPr>
        <p:spPr>
          <a:xfrm>
            <a:off x="8366760" y="1444752"/>
            <a:ext cx="3246120" cy="4407408"/>
          </a:xfrm>
          <a:prstGeom prst="roundRect">
            <a:avLst>
              <a:gd name="adj" fmla="val 2254"/>
            </a:avLst>
          </a:prstGeom>
          <a:solidFill>
            <a:srgbClr val="FFE4DC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22792" y="17830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小時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8622792" y="21945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測試與優化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686800" y="2898648"/>
            <a:ext cx="25146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電影推薦測試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音樂歌單測試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回饋修正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建立個人化模板</a:t>
            </a:r>
            <a:endParaRPr lang="en-US" sz="14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1143000"/>
            <a:ext cx="3291840" cy="2423160"/>
          </a:xfrm>
          <a:prstGeom prst="ellipse">
            <a:avLst/>
          </a:prstGeom>
          <a:solidFill>
            <a:srgbClr val="FBD7B5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383280" cy="2057400"/>
          </a:xfrm>
          <a:prstGeom prst="ellipse">
            <a:avLst/>
          </a:prstGeom>
          <a:solidFill>
            <a:srgbClr val="F7E0BE">
              <a:alpha val="8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5440680"/>
            <a:ext cx="2926080" cy="2194560"/>
          </a:xfrm>
          <a:prstGeom prst="ellipse">
            <a:avLst/>
          </a:prstGeom>
          <a:solidFill>
            <a:srgbClr val="FFF0C9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188720" y="5532120"/>
            <a:ext cx="2468880" cy="1737360"/>
          </a:xfrm>
          <a:prstGeom prst="ellipse">
            <a:avLst/>
          </a:prstGeom>
          <a:solidFill>
            <a:srgbClr val="FFE9D6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92608"/>
            <a:ext cx="914400" cy="0"/>
          </a:xfrm>
          <a:prstGeom prst="line">
            <a:avLst/>
          </a:prstGeom>
          <a:noFill/>
          <a:ln w="10160">
            <a:solidFill>
              <a:srgbClr val="E7B75B">
                <a:alpha val="4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6400800"/>
            <a:ext cx="822960" cy="0"/>
          </a:xfrm>
          <a:prstGeom prst="line">
            <a:avLst/>
          </a:prstGeom>
          <a:noFill/>
          <a:ln w="10160">
            <a:solidFill>
              <a:srgbClr val="E7B75B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475488"/>
            <a:ext cx="137160" cy="603504"/>
          </a:xfrm>
          <a:prstGeom prst="roundRect">
            <a:avLst>
              <a:gd name="adj" fmla="val 26667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42062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11｜課堂練習與驗收標準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50976" y="89611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用電影與音樂兩個情境確認 Agent 是否真的懂口味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0881360" y="475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B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" y="6400800"/>
            <a:ext cx="10835640" cy="0"/>
          </a:xfrm>
          <a:prstGeom prst="line">
            <a:avLst/>
          </a:prstGeom>
          <a:noFill/>
          <a:ln w="8890">
            <a:solidFill>
              <a:srgbClr val="F3DEC1">
                <a:alpha val="9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64922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46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娛樂口味推薦助理｜TasteMate Agent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991088" y="6492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79A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77240" y="1389888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97280" y="173736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2E1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課堂練習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15568" y="2331720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FE9D6"/>
          </a:solidFill>
          <a:ln w="6350">
            <a:solidFill>
              <a:srgbClr val="EBCB9E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2404872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Easy｜電影推薦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1143000" y="276148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選一部喜歡的電影，列出 3 個喜歡原因、2 個不喜歡元素，要求 GPT 推薦 5 部。</a:t>
            </a:r>
            <a:endParaRPr lang="en-US" sz="1330" dirty="0"/>
          </a:p>
        </p:txBody>
      </p:sp>
      <p:sp>
        <p:nvSpPr>
          <p:cNvPr id="20" name="Shape 18"/>
          <p:cNvSpPr/>
          <p:nvPr/>
        </p:nvSpPr>
        <p:spPr>
          <a:xfrm>
            <a:off x="1115568" y="3611880"/>
            <a:ext cx="2084832" cy="310896"/>
          </a:xfrm>
          <a:prstGeom prst="roundRect">
            <a:avLst>
              <a:gd name="adj" fmla="val 23529"/>
            </a:avLst>
          </a:prstGeom>
          <a:solidFill>
            <a:srgbClr val="FFF0C9"/>
          </a:solidFill>
          <a:ln w="6350">
            <a:solidFill>
              <a:srgbClr val="EBCB9E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25296" y="368503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Medium｜情境音樂清單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1143000" y="404164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描述當下狀態與音樂偏好，要求 GPT 產生播放清單主題與 10 首具體歌曲。</a:t>
            </a:r>
            <a:endParaRPr lang="en-US" sz="1330" dirty="0"/>
          </a:p>
        </p:txBody>
      </p:sp>
      <p:sp>
        <p:nvSpPr>
          <p:cNvPr id="23" name="Shape 21"/>
          <p:cNvSpPr/>
          <p:nvPr/>
        </p:nvSpPr>
        <p:spPr>
          <a:xfrm>
            <a:off x="6492240" y="1389888"/>
            <a:ext cx="4892040" cy="4480560"/>
          </a:xfrm>
          <a:prstGeom prst="roundRect">
            <a:avLst>
              <a:gd name="adj" fmla="val 1633"/>
            </a:avLst>
          </a:prstGeom>
          <a:solidFill>
            <a:srgbClr val="FFFDF8"/>
          </a:solidFill>
          <a:ln w="12700">
            <a:solidFill>
              <a:srgbClr val="EBCB9E"/>
            </a:solidFill>
            <a:prstDash val="solid"/>
          </a:ln>
          <a:effectLst>
            <a:outerShdw sx="100000" sy="100000" kx="0" ky="0" algn="bl" rotWithShape="0" blurRad="25400" dist="50800" dir="2700000">
              <a:srgbClr val="D9A55F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12280" y="173736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驗收標準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3720" y="2331720"/>
            <a:ext cx="39319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資訊不足時會追問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能分析喜歡原因，而非只看作品名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能遵守負面約束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推薦項目都有理由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不爆雷、不提供盜版來源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5B35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能根據回饋修正偏好檔案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960120" y="6108192"/>
            <a:ext cx="10241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C653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一句話總結：AI 推薦準不準，取決於你是否講清楚「喜歡的原因」與「不喜歡的限制」。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CodeByX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娛樂口味推薦助理｜TasteMate 娛樂內容推薦 Agent</dc:title>
  <dc:subject>娛樂口味推薦助理 課綱簡報 暖色美化版</dc:subject>
  <dc:creator>OpenAI</dc:creator>
  <cp:lastModifiedBy>OpenAI</cp:lastModifiedBy>
  <cp:revision>1</cp:revision>
  <dcterms:created xsi:type="dcterms:W3CDTF">2026-06-14T04:09:06Z</dcterms:created>
  <dcterms:modified xsi:type="dcterms:W3CDTF">2026-06-14T04:09:06Z</dcterms:modified>
</cp:coreProperties>
</file>