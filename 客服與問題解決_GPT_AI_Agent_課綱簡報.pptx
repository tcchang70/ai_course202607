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_MASTER">
    <p:bg>
      <p:bgPr>
        <a:solidFill>
          <a:srgbClr val="F7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4A2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4A2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arm_softly_lit_modern_office_consultation_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8912" y="411480"/>
            <a:ext cx="6080760" cy="5989320"/>
          </a:xfrm>
          <a:prstGeom prst="roundRect">
            <a:avLst>
              <a:gd name="adj" fmla="val 1221"/>
            </a:avLst>
          </a:prstGeom>
          <a:solidFill>
            <a:srgbClr val="FFF8EF">
              <a:alpha val="96000"/>
            </a:srgbClr>
          </a:solidFill>
          <a:ln w="10160">
            <a:solidFill>
              <a:srgbClr val="E4D2BB">
                <a:alpha val="8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5669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5C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 AI Agent 課綱簡報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58368" y="1143000"/>
            <a:ext cx="5257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理性客訴與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問題解決助理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94944" y="27432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4C2F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把情緒化抱怨，轉換成理性、有力、可執行的客訴溝通策略。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85800" y="3703320"/>
            <a:ext cx="3840480" cy="310896"/>
          </a:xfrm>
          <a:prstGeom prst="roundRect">
            <a:avLst>
              <a:gd name="adj" fmla="val 29412"/>
            </a:avLst>
          </a:prstGeom>
          <a:solidFill>
            <a:srgbClr val="C95C37"/>
          </a:solidFill>
          <a:ln w="12700">
            <a:solidFill>
              <a:srgbClr val="C95C37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37673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4C2F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FACT → IMPACT → REQUEST → DEADLINE</a:t>
            </a:r>
            <a:endParaRPr lang="en-US" sz="870" dirty="0"/>
          </a:p>
        </p:txBody>
      </p:sp>
      <p:sp>
        <p:nvSpPr>
          <p:cNvPr id="9" name="Text 6"/>
          <p:cNvSpPr/>
          <p:nvPr/>
        </p:nvSpPr>
        <p:spPr>
          <a:xfrm>
            <a:off x="694944" y="60167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4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適合：ChatGPT 自訂 GPT 製作課 / AI Agent 教學 / 客服溝通實戰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4A2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4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 AI Agent 課綱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064240" cy="0"/>
          </a:xfrm>
          <a:prstGeom prst="line">
            <a:avLst/>
          </a:prstGeom>
          <a:noFill/>
          <a:ln w="12700">
            <a:solidFill>
              <a:srgbClr val="D8C6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49808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01｜Agent 定位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3441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7D6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它不是幫你罵客服，而是幫你把問題講清楚、講有力。</a:t>
            </a:r>
            <a:endParaRPr lang="en-US" sz="1550" dirty="0"/>
          </a:p>
        </p:txBody>
      </p:sp>
      <p:pic>
        <p:nvPicPr>
          <p:cNvPr id="6" name="Image 0" descr="/mnt/data/a_wide_warm_toned_conceptual_illustration_inf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057400"/>
            <a:ext cx="4937760" cy="27797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965960"/>
            <a:ext cx="4983480" cy="3749040"/>
          </a:xfrm>
          <a:prstGeom prst="roundRect">
            <a:avLst>
              <a:gd name="adj" fmla="val 1951"/>
            </a:avLst>
          </a:prstGeom>
          <a:solidFill>
            <a:srgbClr val="FFF8EF"/>
          </a:solidFill>
          <a:ln w="10160">
            <a:solidFill>
              <a:srgbClr val="E4D2BB">
                <a:alpha val="8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22402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5C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核心定位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2788920"/>
            <a:ext cx="429768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整理客訴事實，避免情緒失焦
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說明實際影響與損失
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提出明確、可執行的訴求
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設定合理回覆期限
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必要時規劃升級處理與申訴策略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14400" y="518464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2F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一句話：把抱怨變成解決方案。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02920" y="644652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8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客服與問題解決 Agent｜02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4A2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4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 AI Agent 課綱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064240" cy="0"/>
          </a:xfrm>
          <a:prstGeom prst="line">
            <a:avLst/>
          </a:prstGeom>
          <a:noFill/>
          <a:ln w="12700">
            <a:solidFill>
              <a:srgbClr val="D8C6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49808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02｜課程學習目標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3441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7D6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學員完成後，可以獨立設計並測試一個客服問題解決 Agent。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960120" y="2194560"/>
            <a:ext cx="9829800" cy="0"/>
          </a:xfrm>
          <a:prstGeom prst="line">
            <a:avLst/>
          </a:prstGeom>
          <a:noFill/>
          <a:ln w="8890">
            <a:solidFill>
              <a:srgbClr val="E7D2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74520"/>
            <a:ext cx="384048" cy="384048"/>
          </a:xfrm>
          <a:prstGeom prst="rect">
            <a:avLst/>
          </a:prstGeom>
          <a:solidFill>
            <a:srgbClr val="C95C37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18562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會定義 Agent 任務邊界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035040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D6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知道什麼能協助、什麼不能亂承諾。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60120" y="3145536"/>
            <a:ext cx="9829800" cy="0"/>
          </a:xfrm>
          <a:prstGeom prst="line">
            <a:avLst/>
          </a:prstGeom>
          <a:noFill/>
          <a:ln w="8890">
            <a:solidFill>
              <a:srgbClr val="E7D2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825496"/>
            <a:ext cx="384048" cy="384048"/>
          </a:xfrm>
          <a:prstGeom prst="rect">
            <a:avLst/>
          </a:prstGeom>
          <a:solidFill>
            <a:srgbClr val="C95C37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28072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會寫出四段式客訴指令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6035040" y="28437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D6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FACT、IMPACT、REQUEST、DEADLINE。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60120" y="4096512"/>
            <a:ext cx="9829800" cy="0"/>
          </a:xfrm>
          <a:prstGeom prst="line">
            <a:avLst/>
          </a:prstGeom>
          <a:noFill/>
          <a:ln w="8890">
            <a:solidFill>
              <a:srgbClr val="E7D2B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776472"/>
            <a:ext cx="384048" cy="384048"/>
          </a:xfrm>
          <a:prstGeom prst="rect">
            <a:avLst/>
          </a:prstGeom>
          <a:solidFill>
            <a:srgbClr val="C95C37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375818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會設計客服話術與升級流程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035040" y="3794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D6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包含拖延、拒絕、主管升級情境。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60120" y="5047488"/>
            <a:ext cx="9829800" cy="0"/>
          </a:xfrm>
          <a:prstGeom prst="line">
            <a:avLst/>
          </a:prstGeom>
          <a:noFill/>
          <a:ln w="8890">
            <a:solidFill>
              <a:srgbClr val="E7D2B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727448"/>
            <a:ext cx="384048" cy="384048"/>
          </a:xfrm>
          <a:prstGeom prst="rect">
            <a:avLst/>
          </a:prstGeom>
          <a:solidFill>
            <a:srgbClr val="C95C37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08760" y="4709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會測試與修正 GPT 回答品質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6035040" y="47457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D6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檢查語氣、具體性、法律邊界與下一步。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2920" y="644652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8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客服與問題解決 Agent｜03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4A2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4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 AI Agent 課綱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064240" cy="0"/>
          </a:xfrm>
          <a:prstGeom prst="line">
            <a:avLst/>
          </a:prstGeom>
          <a:noFill/>
          <a:ln w="12700">
            <a:solidFill>
              <a:srgbClr val="D8C6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49808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03｜有效客訴四段式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3441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7D6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最重要的能力：用「事實」代替「情緒」。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04672" y="1965960"/>
            <a:ext cx="2331720" cy="3246120"/>
          </a:xfrm>
          <a:prstGeom prst="roundRect">
            <a:avLst>
              <a:gd name="adj" fmla="val 3137"/>
            </a:avLst>
          </a:prstGeom>
          <a:solidFill>
            <a:srgbClr val="FFF8EF"/>
          </a:solidFill>
          <a:ln w="10160">
            <a:solidFill>
              <a:srgbClr val="E4D2BB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945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5C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FACT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33272" y="2880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事實陳述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16152" y="3355848"/>
            <a:ext cx="1508760" cy="0"/>
          </a:xfrm>
          <a:prstGeom prst="line">
            <a:avLst/>
          </a:prstGeom>
          <a:noFill/>
          <a:ln w="25400">
            <a:solidFill>
              <a:srgbClr val="D8A7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3657600"/>
            <a:ext cx="18745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D6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何時、何地、平台、金額、訂單、發生什麼事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18688" y="3291840"/>
            <a:ext cx="384048" cy="292608"/>
          </a:xfrm>
          <a:prstGeom prst="rightArrow">
            <a:avLst/>
          </a:prstGeom>
          <a:solidFill>
            <a:srgbClr val="E58B55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1965960"/>
            <a:ext cx="2331720" cy="3246120"/>
          </a:xfrm>
          <a:prstGeom prst="roundRect">
            <a:avLst>
              <a:gd name="adj" fmla="val 3137"/>
            </a:avLst>
          </a:prstGeom>
          <a:solidFill>
            <a:srgbClr val="FFF8EF"/>
          </a:solidFill>
          <a:ln w="10160">
            <a:solidFill>
              <a:srgbClr val="E4D2BB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58768" y="21945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5C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IMPACT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886200" y="2880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影響說明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69080" y="3355848"/>
            <a:ext cx="1508760" cy="0"/>
          </a:xfrm>
          <a:prstGeom prst="line">
            <a:avLst/>
          </a:prstGeom>
          <a:noFill/>
          <a:ln w="25400">
            <a:solidFill>
              <a:srgbClr val="D8A7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6200" y="3657600"/>
            <a:ext cx="18745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D6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金錢損失、時間成本、不便、信任受損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71616" y="3291840"/>
            <a:ext cx="384048" cy="292608"/>
          </a:xfrm>
          <a:prstGeom prst="rightArrow">
            <a:avLst/>
          </a:prstGeom>
          <a:solidFill>
            <a:srgbClr val="E58B55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10528" y="1965960"/>
            <a:ext cx="2331720" cy="3246120"/>
          </a:xfrm>
          <a:prstGeom prst="roundRect">
            <a:avLst>
              <a:gd name="adj" fmla="val 3137"/>
            </a:avLst>
          </a:prstGeom>
          <a:solidFill>
            <a:srgbClr val="FFF8EF"/>
          </a:solidFill>
          <a:ln w="10160">
            <a:solidFill>
              <a:srgbClr val="E4D2BB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11696" y="21945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5C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REQUEST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739128" y="2880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明確訴求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922008" y="3355848"/>
            <a:ext cx="1508760" cy="0"/>
          </a:xfrm>
          <a:prstGeom prst="line">
            <a:avLst/>
          </a:prstGeom>
          <a:noFill/>
          <a:ln w="25400">
            <a:solidFill>
              <a:srgbClr val="D8A7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39128" y="3657600"/>
            <a:ext cx="18745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D6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退款、補寄、修正、道歉、書面說明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924544" y="3291840"/>
            <a:ext cx="384048" cy="292608"/>
          </a:xfrm>
          <a:prstGeom prst="rightArrow">
            <a:avLst/>
          </a:prstGeom>
          <a:solidFill>
            <a:srgbClr val="E58B55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63456" y="1965960"/>
            <a:ext cx="2331720" cy="3246120"/>
          </a:xfrm>
          <a:prstGeom prst="roundRect">
            <a:avLst>
              <a:gd name="adj" fmla="val 3137"/>
            </a:avLst>
          </a:prstGeom>
          <a:solidFill>
            <a:srgbClr val="FFF8EF"/>
          </a:solidFill>
          <a:ln w="10160">
            <a:solidFill>
              <a:srgbClr val="E4D2BB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64624" y="21945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5C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DEADLINE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592056" y="2880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回覆期限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774936" y="3355848"/>
            <a:ext cx="1508760" cy="0"/>
          </a:xfrm>
          <a:prstGeom prst="line">
            <a:avLst/>
          </a:prstGeom>
          <a:noFill/>
          <a:ln w="25400">
            <a:solidFill>
              <a:srgbClr val="D8A7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92056" y="3657600"/>
            <a:ext cx="18745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D6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 小時、3 個工作天、7 日內完成處理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05840" y="565099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2F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客訴不是情緒宣洩，而是把可驗證資料變成可執行要求。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02920" y="644652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8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客服與問題解決 Agent｜04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4A2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4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 AI Agent 課綱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064240" cy="0"/>
          </a:xfrm>
          <a:prstGeom prst="line">
            <a:avLst/>
          </a:prstGeom>
          <a:noFill/>
          <a:ln w="12700">
            <a:solidFill>
              <a:srgbClr val="D8C6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49808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04｜GPT Agent 製作流程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3441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7D6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從定位、指令、測試到修正，讓 Agent 可以穩定產出。</a:t>
            </a:r>
            <a:endParaRPr lang="en-US" sz="1550" dirty="0"/>
          </a:p>
        </p:txBody>
      </p:sp>
      <p:pic>
        <p:nvPicPr>
          <p:cNvPr id="6" name="Image 0" descr="/mnt/data/a_warm_clean_vector_illustration_style_infograp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514600"/>
            <a:ext cx="4800600" cy="2697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C95C37"/>
          </a:solidFill>
          <a:ln w="12700">
            <a:solidFill>
              <a:srgbClr val="C95C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90652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417320" y="1792224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設定名稱與定位
</a:t>
            </a:r>
            <a:pPr indent="0" marL="0">
              <a:buNone/>
            </a:pPr>
            <a:r>
              <a:rPr lang="en-US" sz="1420" dirty="0">
                <a:solidFill>
                  <a:srgbClr val="7D6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理性客訴與問題解決助理</a:t>
            </a:r>
            <a:endParaRPr lang="en-US" sz="1420" dirty="0"/>
          </a:p>
        </p:txBody>
      </p:sp>
      <p:sp>
        <p:nvSpPr>
          <p:cNvPr id="10" name="Shape 7"/>
          <p:cNvSpPr/>
          <p:nvPr/>
        </p:nvSpPr>
        <p:spPr>
          <a:xfrm>
            <a:off x="777240" y="2487168"/>
            <a:ext cx="457200" cy="457200"/>
          </a:xfrm>
          <a:prstGeom prst="ellipse">
            <a:avLst/>
          </a:prstGeom>
          <a:solidFill>
            <a:srgbClr val="C95C37"/>
          </a:solidFill>
          <a:ln w="12700">
            <a:solidFill>
              <a:srgbClr val="C95C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5648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417320" y="2450592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定義核心任務
</a:t>
            </a:r>
            <a:pPr indent="0" marL="0">
              <a:buNone/>
            </a:pPr>
            <a:r>
              <a:rPr lang="en-US" sz="1420" dirty="0">
                <a:solidFill>
                  <a:srgbClr val="7D6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從抱怨到客訴策略</a:t>
            </a:r>
            <a:endParaRPr lang="en-US" sz="1420" dirty="0"/>
          </a:p>
        </p:txBody>
      </p:sp>
      <p:sp>
        <p:nvSpPr>
          <p:cNvPr id="13" name="Shape 10"/>
          <p:cNvSpPr/>
          <p:nvPr/>
        </p:nvSpPr>
        <p:spPr>
          <a:xfrm>
            <a:off x="777240" y="3145536"/>
            <a:ext cx="457200" cy="457200"/>
          </a:xfrm>
          <a:prstGeom prst="ellipse">
            <a:avLst/>
          </a:prstGeom>
          <a:solidFill>
            <a:srgbClr val="C95C37"/>
          </a:solidFill>
          <a:ln w="12700">
            <a:solidFill>
              <a:srgbClr val="C95C3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32232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1417320" y="3108960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撰寫 Instructions
</a:t>
            </a:r>
            <a:pPr indent="0" marL="0">
              <a:buNone/>
            </a:pPr>
            <a:r>
              <a:rPr lang="en-US" sz="1420" dirty="0">
                <a:solidFill>
                  <a:srgbClr val="7D6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四段式、語氣、法律邊界</a:t>
            </a:r>
            <a:endParaRPr lang="en-US" sz="1420" dirty="0"/>
          </a:p>
        </p:txBody>
      </p:sp>
      <p:sp>
        <p:nvSpPr>
          <p:cNvPr id="16" name="Shape 13"/>
          <p:cNvSpPr/>
          <p:nvPr/>
        </p:nvSpPr>
        <p:spPr>
          <a:xfrm>
            <a:off x="777240" y="3803904"/>
            <a:ext cx="457200" cy="457200"/>
          </a:xfrm>
          <a:prstGeom prst="ellipse">
            <a:avLst/>
          </a:prstGeom>
          <a:solidFill>
            <a:srgbClr val="C95C37"/>
          </a:solidFill>
          <a:ln w="12700">
            <a:solidFill>
              <a:srgbClr val="C95C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38816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417320" y="3767328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加入開場問題
</a:t>
            </a:r>
            <a:pPr indent="0" marL="0">
              <a:buNone/>
            </a:pPr>
            <a:r>
              <a:rPr lang="en-US" sz="1420" dirty="0">
                <a:solidFill>
                  <a:srgbClr val="7D6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外送、網購、客服拖延</a:t>
            </a:r>
            <a:endParaRPr lang="en-US" sz="1420" dirty="0"/>
          </a:p>
        </p:txBody>
      </p:sp>
      <p:sp>
        <p:nvSpPr>
          <p:cNvPr id="19" name="Shape 16"/>
          <p:cNvSpPr/>
          <p:nvPr/>
        </p:nvSpPr>
        <p:spPr>
          <a:xfrm>
            <a:off x="777240" y="4462272"/>
            <a:ext cx="457200" cy="457200"/>
          </a:xfrm>
          <a:prstGeom prst="ellipse">
            <a:avLst/>
          </a:prstGeom>
          <a:solidFill>
            <a:srgbClr val="C95C37"/>
          </a:solidFill>
          <a:ln w="12700">
            <a:solidFill>
              <a:srgbClr val="C95C3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45399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417320" y="4425696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上傳知識文件
</a:t>
            </a:r>
            <a:pPr indent="0" marL="0">
              <a:buNone/>
            </a:pPr>
            <a:r>
              <a:rPr lang="en-US" sz="1420" dirty="0">
                <a:solidFill>
                  <a:srgbClr val="7D6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模板、案例、申訴流程</a:t>
            </a:r>
            <a:endParaRPr lang="en-US" sz="1420" dirty="0"/>
          </a:p>
        </p:txBody>
      </p:sp>
      <p:sp>
        <p:nvSpPr>
          <p:cNvPr id="22" name="Shape 19"/>
          <p:cNvSpPr/>
          <p:nvPr/>
        </p:nvSpPr>
        <p:spPr>
          <a:xfrm>
            <a:off x="777240" y="5120640"/>
            <a:ext cx="457200" cy="457200"/>
          </a:xfrm>
          <a:prstGeom prst="ellipse">
            <a:avLst/>
          </a:prstGeom>
          <a:solidFill>
            <a:srgbClr val="C95C37"/>
          </a:solidFill>
          <a:ln w="12700">
            <a:solidFill>
              <a:srgbClr val="C95C3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51983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1417320" y="5084064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測試與修正
</a:t>
            </a:r>
            <a:pPr indent="0" marL="0">
              <a:buNone/>
            </a:pPr>
            <a:r>
              <a:rPr lang="en-US" sz="1420" dirty="0">
                <a:solidFill>
                  <a:srgbClr val="7D6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檢查具體性與可執行性</a:t>
            </a:r>
            <a:endParaRPr lang="en-US" sz="1420" dirty="0"/>
          </a:p>
        </p:txBody>
      </p:sp>
      <p:sp>
        <p:nvSpPr>
          <p:cNvPr id="25" name="Text 22"/>
          <p:cNvSpPr/>
          <p:nvPr/>
        </p:nvSpPr>
        <p:spPr>
          <a:xfrm>
            <a:off x="502920" y="644652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8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客服與問題解決 Agent｜05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4A2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4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 AI Agent 課綱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064240" cy="0"/>
          </a:xfrm>
          <a:prstGeom prst="line">
            <a:avLst/>
          </a:prstGeom>
          <a:noFill/>
          <a:ln w="12700">
            <a:solidFill>
              <a:srgbClr val="D8C6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49808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05｜Instructions 設計重點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3441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7D6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GPT 不只會寫信，還能穩定判斷資訊、語氣與下一步。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10652760" cy="4224528"/>
          </a:xfrm>
          <a:prstGeom prst="roundRect">
            <a:avLst>
              <a:gd name="adj" fmla="val 1732"/>
            </a:avLst>
          </a:prstGeom>
          <a:solidFill>
            <a:srgbClr val="FFF8EF"/>
          </a:solidFill>
          <a:ln w="10160">
            <a:solidFill>
              <a:srgbClr val="E4D2BB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12848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C95C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資料收集｜</a:t>
            </a:r>
            <a:pPr indent="0" marL="0">
              <a:buNone/>
            </a:pPr>
            <a:r>
              <a:rPr lang="en-US" sz="1450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日期、平台、金額、訂單、已聯繫紀錄、希望訴求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097280" y="2907792"/>
            <a:ext cx="4800600" cy="0"/>
          </a:xfrm>
          <a:prstGeom prst="line">
            <a:avLst/>
          </a:prstGeom>
          <a:noFill/>
          <a:ln w="10160">
            <a:solidFill>
              <a:srgbClr val="E5D0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38328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C95C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語氣控制｜</a:t>
            </a:r>
            <a:pPr indent="0" marL="0">
              <a:buNone/>
            </a:pPr>
            <a:r>
              <a:rPr lang="en-US" sz="1450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理性、堅定、正式；避免人身攻擊與情緒用字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097280" y="4078224"/>
            <a:ext cx="4800600" cy="0"/>
          </a:xfrm>
          <a:prstGeom prst="line">
            <a:avLst/>
          </a:prstGeom>
          <a:noFill/>
          <a:ln w="10160">
            <a:solidFill>
              <a:srgbClr val="E5D0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55371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C95C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輸出格式｜</a:t>
            </a:r>
            <a:pPr indent="0" marL="0">
              <a:buNone/>
            </a:pPr>
            <a:r>
              <a:rPr lang="en-US" sz="1450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客訴信、客服聊天、電話腳本、升級策略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92240" y="2212848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C95C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升級處理｜</a:t>
            </a:r>
            <a:pPr indent="0" marL="0">
              <a:buNone/>
            </a:pPr>
            <a:r>
              <a:rPr lang="en-US" sz="1450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要求案件編號、主管回覆、書面拒絕理由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92240" y="2907792"/>
            <a:ext cx="4800600" cy="0"/>
          </a:xfrm>
          <a:prstGeom prst="line">
            <a:avLst/>
          </a:prstGeom>
          <a:noFill/>
          <a:ln w="10160">
            <a:solidFill>
              <a:srgbClr val="E5D0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38328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C95C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權益邊界｜</a:t>
            </a:r>
            <a:pPr indent="0" marL="0">
              <a:buNone/>
            </a:pPr>
            <a:r>
              <a:rPr lang="en-US" sz="1450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提供一般資訊，不冒充律師或做確定法律判斷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92240" y="4078224"/>
            <a:ext cx="4800600" cy="0"/>
          </a:xfrm>
          <a:prstGeom prst="line">
            <a:avLst/>
          </a:prstGeom>
          <a:noFill/>
          <a:ln w="10160">
            <a:solidFill>
              <a:srgbClr val="E5D0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55371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C95C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品質檢查｜</a:t>
            </a:r>
            <a:pPr indent="0" marL="0">
              <a:buNone/>
            </a:pPr>
            <a:r>
              <a:rPr lang="en-US" sz="1450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是否有事實、影響、訴求、期限與下一步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989320" y="2148840"/>
            <a:ext cx="0" cy="3520440"/>
          </a:xfrm>
          <a:prstGeom prst="line">
            <a:avLst/>
          </a:prstGeom>
          <a:noFill/>
          <a:ln w="12700">
            <a:solidFill>
              <a:srgbClr val="E4D2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44652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8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客服與問題解決 Agent｜06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4A2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4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 AI Agent 課綱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064240" cy="0"/>
          </a:xfrm>
          <a:prstGeom prst="line">
            <a:avLst/>
          </a:prstGeom>
          <a:noFill/>
          <a:ln w="12700">
            <a:solidFill>
              <a:srgbClr val="D8C6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49808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06｜實作演練一：外送未收到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3441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7D6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目標：讓 AI 寫出理性、有力的正式投訴信。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FF8EF"/>
          </a:solidFill>
          <a:ln w="10160">
            <a:solidFill>
              <a:srgbClr val="E4D2BB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1234440" cy="310896"/>
          </a:xfrm>
          <a:prstGeom prst="roundRect">
            <a:avLst>
              <a:gd name="adj" fmla="val 29412"/>
            </a:avLst>
          </a:prstGeom>
          <a:solidFill>
            <a:srgbClr val="C95C37"/>
          </a:solidFill>
          <a:ln w="12700">
            <a:solidFill>
              <a:srgbClr val="C95C3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2128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4C2F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案例背景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1078992" y="2743200"/>
            <a:ext cx="434340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訂單金額：450 元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系統顯示已送達，但實際未收到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客服說會調查，已等待 3 天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希望全額退款並取得書面說明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1874520"/>
            <a:ext cx="4983480" cy="4160520"/>
          </a:xfrm>
          <a:prstGeom prst="roundRect">
            <a:avLst>
              <a:gd name="adj" fmla="val 1758"/>
            </a:avLst>
          </a:prstGeom>
          <a:solidFill>
            <a:srgbClr val="FFF8EF"/>
          </a:solidFill>
          <a:ln w="10160">
            <a:solidFill>
              <a:srgbClr val="E4D2BB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2148840"/>
            <a:ext cx="1234440" cy="310896"/>
          </a:xfrm>
          <a:prstGeom prst="roundRect">
            <a:avLst>
              <a:gd name="adj" fmla="val 29412"/>
            </a:avLst>
          </a:prstGeom>
          <a:solidFill>
            <a:srgbClr val="7A4A2A"/>
          </a:solidFill>
          <a:ln w="12700">
            <a:solidFill>
              <a:srgbClr val="7A4A2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22128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4C2F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學生任務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6693408" y="2761488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請用四段式指令讓 GPT 產出：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93408" y="3310128"/>
            <a:ext cx="42062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正式投訴信
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堅定、理性、正式語氣
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要求 3 個工作天內書面回覆
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避免情緒性或威脅性語句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675120" y="513892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4C2F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成果檢查：FACT / IMPACT / REQUEST / DEADLINE 是否完整。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8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客服與問題解決 Agent｜07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4A2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4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 AI Agent 課綱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064240" cy="0"/>
          </a:xfrm>
          <a:prstGeom prst="line">
            <a:avLst/>
          </a:prstGeom>
          <a:noFill/>
          <a:ln w="12700">
            <a:solidFill>
              <a:srgbClr val="D8C6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49808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07｜實作演練二：商品描述不符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3441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7D6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目標：讓 AI 協助做退貨溝通策略，而不是只寫一封信。</a:t>
            </a:r>
            <a:endParaRPr lang="en-US" sz="1550" dirty="0"/>
          </a:p>
        </p:txBody>
      </p:sp>
      <p:pic>
        <p:nvPicPr>
          <p:cNvPr id="6" name="Image 0" descr="/mnt/data/a_wide_warm_toned_conceptual_illustration_inf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423160"/>
            <a:ext cx="4389120" cy="2468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0" y="187452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FFF8EF"/>
          </a:solidFill>
          <a:ln w="10160">
            <a:solidFill>
              <a:srgbClr val="E4D2BB">
                <a:alpha val="8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0" y="2148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5C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035040" y="265176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購買「強調靜音設計」的電風扇，實際噪音很大；購買 15 天，已超過 7 天鑑賞期。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035040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2F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要協助產出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053328" y="4160520"/>
            <a:ext cx="457200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一般消費者權益角度分析
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客服溝通話術腳本
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客服拒絕時的應對句
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下一步申訴流程與時間表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02920" y="644652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8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客服與問題解決 Agent｜08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4A2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4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 AI Agent 課綱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064240" cy="0"/>
          </a:xfrm>
          <a:prstGeom prst="line">
            <a:avLst/>
          </a:prstGeom>
          <a:noFill/>
          <a:ln w="12700">
            <a:solidFill>
              <a:srgbClr val="D8C6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49808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08｜角色扮演與升級處理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3441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7D6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讓學生練習在壓力情境下，仍然保持理性與策略。</a:t>
            </a:r>
            <a:endParaRPr lang="en-US" sz="1550" dirty="0"/>
          </a:p>
        </p:txBody>
      </p:sp>
      <p:pic>
        <p:nvPicPr>
          <p:cNvPr id="6" name="Image 0" descr="/mnt/data/a_warm_modern_office_classroom_training_scene_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1874520"/>
            <a:ext cx="4892040" cy="3886200"/>
          </a:xfrm>
          <a:prstGeom prst="roundRect">
            <a:avLst>
              <a:gd name="adj" fmla="val 1882"/>
            </a:avLst>
          </a:prstGeom>
          <a:solidFill>
            <a:srgbClr val="FFF8EF">
              <a:alpha val="95000"/>
            </a:srgbClr>
          </a:solidFill>
          <a:ln w="10160">
            <a:solidFill>
              <a:srgbClr val="E4D2BB">
                <a:alpha val="8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2148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5C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客服角色模擬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78992" y="2788920"/>
            <a:ext cx="425196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拖延型客服：請您再等等
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制式回覆型客服：依規定無法處理
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拒絕退款型客服：已超過期限
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主管客服：要求整理證據與訴求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492240" y="1874520"/>
            <a:ext cx="4892040" cy="3886200"/>
          </a:xfrm>
          <a:prstGeom prst="roundRect">
            <a:avLst>
              <a:gd name="adj" fmla="val 1882"/>
            </a:avLst>
          </a:prstGeom>
          <a:solidFill>
            <a:srgbClr val="FFF8EF">
              <a:alpha val="95000"/>
            </a:srgbClr>
          </a:solidFill>
          <a:ln w="10160">
            <a:solidFill>
              <a:srgbClr val="E4D2BB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48272" y="2148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5C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升級處理路徑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748272" y="2788920"/>
            <a:ext cx="425196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要求案件編號與書面回覆
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要求主管或專責單位處理
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準備證據：截圖、錄影、對話紀錄
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必要時走平台申訴或消保管道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2880360" y="5989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重點：升級不是威脅，而是讓問題進入正式流程。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" y="644652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8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客服與問題解決 Agent｜09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4A2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4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 AI Agent 課綱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064240" cy="0"/>
          </a:xfrm>
          <a:prstGeom prst="line">
            <a:avLst/>
          </a:prstGeom>
          <a:noFill/>
          <a:ln w="12700">
            <a:solidFill>
              <a:srgbClr val="D8C6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49808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09｜3 小時課程流程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3441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7D6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建議安排：概念教學 → GPT 製作 → 實戰演練 → 成果驗收。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1280160" y="2322576"/>
            <a:ext cx="9601200" cy="0"/>
          </a:xfrm>
          <a:prstGeom prst="line">
            <a:avLst/>
          </a:prstGeom>
          <a:noFill/>
          <a:ln w="25400">
            <a:solidFill>
              <a:srgbClr val="E0C8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103120"/>
            <a:ext cx="457200" cy="457200"/>
          </a:xfrm>
          <a:prstGeom prst="ellipse">
            <a:avLst/>
          </a:prstGeom>
          <a:solidFill>
            <a:srgbClr val="C95C3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5C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小時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18836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概念教學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577840" y="19202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7D6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客訴四段式、關鍵術語、常見錯誤與正確語氣</a:t>
            </a:r>
            <a:endParaRPr lang="en-US" sz="1380" dirty="0"/>
          </a:p>
        </p:txBody>
      </p:sp>
      <p:sp>
        <p:nvSpPr>
          <p:cNvPr id="11" name="Shape 9"/>
          <p:cNvSpPr/>
          <p:nvPr/>
        </p:nvSpPr>
        <p:spPr>
          <a:xfrm>
            <a:off x="1280160" y="3557016"/>
            <a:ext cx="9601200" cy="0"/>
          </a:xfrm>
          <a:prstGeom prst="line">
            <a:avLst/>
          </a:prstGeom>
          <a:noFill/>
          <a:ln w="25400">
            <a:solidFill>
              <a:srgbClr val="E0C8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3337560"/>
            <a:ext cx="457200" cy="457200"/>
          </a:xfrm>
          <a:prstGeom prst="ellipse">
            <a:avLst/>
          </a:prstGeom>
          <a:solidFill>
            <a:srgbClr val="C95C3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5C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小時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31181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製作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577840" y="31546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7D6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名稱、描述、Instructions、開場問題、Knowledge 設定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1280160" y="4791456"/>
            <a:ext cx="9601200" cy="0"/>
          </a:xfrm>
          <a:prstGeom prst="line">
            <a:avLst/>
          </a:prstGeom>
          <a:noFill/>
          <a:ln w="25400">
            <a:solidFill>
              <a:srgbClr val="E0C8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572000"/>
            <a:ext cx="457200" cy="457200"/>
          </a:xfrm>
          <a:prstGeom prst="ellipse">
            <a:avLst/>
          </a:prstGeom>
          <a:solidFill>
            <a:srgbClr val="C95C3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91640" y="4389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5C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3 小時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43525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實戰演練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77840" y="43891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7D6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外送、商品不符、客服拖延、角色扮演與升級處理</a:t>
            </a:r>
            <a:endParaRPr lang="en-US" sz="1380" dirty="0"/>
          </a:p>
        </p:txBody>
      </p:sp>
      <p:sp>
        <p:nvSpPr>
          <p:cNvPr id="21" name="Shape 19"/>
          <p:cNvSpPr/>
          <p:nvPr/>
        </p:nvSpPr>
        <p:spPr>
          <a:xfrm>
            <a:off x="914400" y="5715000"/>
            <a:ext cx="10332720" cy="566928"/>
          </a:xfrm>
          <a:prstGeom prst="roundRect">
            <a:avLst>
              <a:gd name="adj" fmla="val 12903"/>
            </a:avLst>
          </a:prstGeom>
          <a:solidFill>
            <a:srgbClr val="FFF8EF"/>
          </a:solidFill>
          <a:ln w="10160">
            <a:solidFill>
              <a:srgbClr val="E4D2BB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5879592"/>
            <a:ext cx="9875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2F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結業成果：每位學生完成一個可測試的「客服與問題解決 GPT Agent」＋兩個實戰案例。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8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客服與問題解決 Agent｜10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4A2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4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 AI Agent 課綱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064240" cy="0"/>
          </a:xfrm>
          <a:prstGeom prst="line">
            <a:avLst/>
          </a:prstGeom>
          <a:noFill/>
          <a:ln w="12700">
            <a:solidFill>
              <a:srgbClr val="D8C6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49808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10｜成果驗收與測試清單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3441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7D6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 Agent 是否真正能解決問題，而不是只會產生漂亮文字。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10561320" cy="4480560"/>
          </a:xfrm>
          <a:prstGeom prst="roundRect">
            <a:avLst>
              <a:gd name="adj" fmla="val 1633"/>
            </a:avLst>
          </a:prstGeom>
          <a:solidFill>
            <a:srgbClr val="FFF8EF"/>
          </a:solidFill>
          <a:ln w="10160">
            <a:solidFill>
              <a:srgbClr val="E4D2BB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14884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5C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211226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外送未收到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0" y="213055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7D6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能否產出正式投訴信？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1097280" y="2624328"/>
            <a:ext cx="9829800" cy="0"/>
          </a:xfrm>
          <a:prstGeom prst="line">
            <a:avLst/>
          </a:prstGeom>
          <a:noFill/>
          <a:ln w="8890">
            <a:solidFill>
              <a:srgbClr val="E7D2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862072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5C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282549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商品與描述不符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0" y="284378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7D6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能否分析策略與客服話術？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1097280" y="3337560"/>
            <a:ext cx="9829800" cy="0"/>
          </a:xfrm>
          <a:prstGeom prst="line">
            <a:avLst/>
          </a:prstGeom>
          <a:noFill/>
          <a:ln w="8890">
            <a:solidFill>
              <a:srgbClr val="E7D2B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575304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5C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35387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客服拖延不回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29200" y="355701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7D6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能否要求案件編號與回覆期限？</a:t>
            </a:r>
            <a:endParaRPr lang="en-US" sz="1380" dirty="0"/>
          </a:p>
        </p:txBody>
      </p:sp>
      <p:sp>
        <p:nvSpPr>
          <p:cNvPr id="18" name="Shape 16"/>
          <p:cNvSpPr/>
          <p:nvPr/>
        </p:nvSpPr>
        <p:spPr>
          <a:xfrm>
            <a:off x="1097280" y="4050792"/>
            <a:ext cx="9829800" cy="0"/>
          </a:xfrm>
          <a:prstGeom prst="line">
            <a:avLst/>
          </a:prstGeom>
          <a:noFill/>
          <a:ln w="8890">
            <a:solidFill>
              <a:srgbClr val="E7D2B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4288536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5C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20240" y="42519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情緒化抱怨改寫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029200" y="427024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7D6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能否轉為理性正式語氣？</a:t>
            </a:r>
            <a:endParaRPr lang="en-US" sz="1380" dirty="0"/>
          </a:p>
        </p:txBody>
      </p:sp>
      <p:sp>
        <p:nvSpPr>
          <p:cNvPr id="22" name="Shape 20"/>
          <p:cNvSpPr/>
          <p:nvPr/>
        </p:nvSpPr>
        <p:spPr>
          <a:xfrm>
            <a:off x="1097280" y="4764024"/>
            <a:ext cx="9829800" cy="0"/>
          </a:xfrm>
          <a:prstGeom prst="line">
            <a:avLst/>
          </a:prstGeom>
          <a:noFill/>
          <a:ln w="8890">
            <a:solidFill>
              <a:srgbClr val="E7D2B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001768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5C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20240" y="49651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E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角色扮演預演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029200" y="4983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7D6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能否模擬客服並提供改善建議？</a:t>
            </a:r>
            <a:endParaRPr lang="en-US" sz="1380" dirty="0"/>
          </a:p>
        </p:txBody>
      </p:sp>
      <p:sp>
        <p:nvSpPr>
          <p:cNvPr id="26" name="Text 24"/>
          <p:cNvSpPr/>
          <p:nvPr/>
        </p:nvSpPr>
        <p:spPr>
          <a:xfrm>
            <a:off x="1234440" y="5715000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2F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通過標準：事實清楚、訴求具體、期限明確、語氣理性、知道何時升級。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2920" y="644652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8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客服與問題解決 Agent｜11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4A2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2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arm_clean_vector_illustration_style_infograp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502920"/>
            <a:ext cx="6492240" cy="6035040"/>
          </a:xfrm>
          <a:prstGeom prst="roundRect">
            <a:avLst>
              <a:gd name="adj" fmla="val 1212"/>
            </a:avLst>
          </a:prstGeom>
          <a:solidFill>
            <a:srgbClr val="2E211A">
              <a:alpha val="98000"/>
            </a:srgbClr>
          </a:solidFill>
          <a:ln w="10160">
            <a:solidFill>
              <a:srgbClr val="E4D2BB">
                <a:alpha val="8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777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8A7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課程總結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22960" y="1600200"/>
            <a:ext cx="6217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AI 成為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理性溝通與問題解決的助理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68680" y="3429000"/>
            <a:ext cx="571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9E8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核心不是「情緒輸出」，而是讓使用者清楚描述問題、提出訴求、掌握期限，並知道下一步該如何升級處理。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68680" y="4617720"/>
            <a:ext cx="3886200" cy="310896"/>
          </a:xfrm>
          <a:prstGeom prst="roundRect">
            <a:avLst>
              <a:gd name="adj" fmla="val 29412"/>
            </a:avLst>
          </a:prstGeom>
          <a:solidFill>
            <a:srgbClr val="C95C37"/>
          </a:solidFill>
          <a:ln w="12700">
            <a:solidFill>
              <a:srgbClr val="C95C37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4681728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4C2F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FACT / IMPACT / REQUEST / DEADLINE</a:t>
            </a:r>
            <a:endParaRPr lang="en-US" sz="870" dirty="0"/>
          </a:p>
        </p:txBody>
      </p:sp>
      <p:sp>
        <p:nvSpPr>
          <p:cNvPr id="9" name="Text 6"/>
          <p:cNvSpPr/>
          <p:nvPr/>
        </p:nvSpPr>
        <p:spPr>
          <a:xfrm>
            <a:off x="868680" y="5989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A7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理性、有力、可執行。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4A2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ChatGPT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理性客訴與問題解決助理</dc:title>
  <dc:subject>理性客訴與問題解決助理 GPT AI Agent 課綱簡報</dc:subject>
  <dc:creator>OpenAI</dc:creator>
  <cp:lastModifiedBy>OpenAI</cp:lastModifiedBy>
  <cp:revision>1</cp:revision>
  <dcterms:created xsi:type="dcterms:W3CDTF">2026-06-14T04:21:08Z</dcterms:created>
  <dcterms:modified xsi:type="dcterms:W3CDTF">2026-06-14T04:21:08Z</dcterms:modified>
</cp:coreProperties>
</file>